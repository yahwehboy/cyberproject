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5.svg"/><Relationship Id="rId4" Type="http://schemas.openxmlformats.org/officeDocument/2006/relationships/image" Target="../media/image2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7.svg"/><Relationship Id="rId1" Type="http://schemas.openxmlformats.org/officeDocument/2006/relationships/image" Target="../media/image26.sv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D9AC6E-91EB-492A-BFD0-EC9828A409D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1EF4845-DAA2-4270-888C-5E94509CB411}">
      <dgm:prSet/>
      <dgm:spPr/>
      <dgm:t>
        <a:bodyPr/>
        <a:lstStyle/>
        <a:p>
          <a:r>
            <a:rPr lang="en-US" b="1"/>
            <a:t>Brute Force: </a:t>
          </a:r>
          <a:r>
            <a:rPr lang="en-GB"/>
            <a:t>A brute force technique is an attempt to crack passwords using permutation and combination approach. This method takes a lot of time and memory consumption depending on the length and complexity of password.</a:t>
          </a:r>
          <a:endParaRPr lang="en-US"/>
        </a:p>
      </dgm:t>
    </dgm:pt>
    <dgm:pt modelId="{8A5ABEC1-C64B-4ECD-974E-23265FAC98BB}" type="parTrans" cxnId="{3F574C10-4AEE-462F-95E4-3A95C0233111}">
      <dgm:prSet/>
      <dgm:spPr/>
      <dgm:t>
        <a:bodyPr/>
        <a:lstStyle/>
        <a:p>
          <a:endParaRPr lang="en-US"/>
        </a:p>
      </dgm:t>
    </dgm:pt>
    <dgm:pt modelId="{79C7A65C-250D-48F4-A054-22887D1118C5}" type="sibTrans" cxnId="{3F574C10-4AEE-462F-95E4-3A95C0233111}">
      <dgm:prSet/>
      <dgm:spPr/>
      <dgm:t>
        <a:bodyPr/>
        <a:lstStyle/>
        <a:p>
          <a:endParaRPr lang="en-US"/>
        </a:p>
      </dgm:t>
    </dgm:pt>
    <dgm:pt modelId="{93CFB31B-162D-4166-A1C4-6E63F7C137B0}">
      <dgm:prSet/>
      <dgm:spPr/>
      <dgm:t>
        <a:bodyPr/>
        <a:lstStyle/>
        <a:p>
          <a:r>
            <a:rPr lang="en-GB" b="1"/>
            <a:t>Dictionary: </a:t>
          </a:r>
          <a:r>
            <a:rPr lang="en-GB"/>
            <a:t>A dictionary technique is an attempt to store in-build passwords in a file known as dictionary. Instead of trying all combination of passwords, it creates a word-list of most common passwords and calculates the hash values while cracking the passwords. It will only able to crack the password if it is stored in dictionary file. This technique takes less time as compared to brute-force technique to crack the password.</a:t>
          </a:r>
          <a:endParaRPr lang="en-US"/>
        </a:p>
      </dgm:t>
    </dgm:pt>
    <dgm:pt modelId="{C9D49246-5012-4F22-A869-B8EBDEA4C1F5}" type="parTrans" cxnId="{72024DD5-D1F3-48C3-AABE-EE2F740348E2}">
      <dgm:prSet/>
      <dgm:spPr/>
      <dgm:t>
        <a:bodyPr/>
        <a:lstStyle/>
        <a:p>
          <a:endParaRPr lang="en-US"/>
        </a:p>
      </dgm:t>
    </dgm:pt>
    <dgm:pt modelId="{C26993D0-E61A-4163-9597-0FACE49471CF}" type="sibTrans" cxnId="{72024DD5-D1F3-48C3-AABE-EE2F740348E2}">
      <dgm:prSet/>
      <dgm:spPr/>
      <dgm:t>
        <a:bodyPr/>
        <a:lstStyle/>
        <a:p>
          <a:endParaRPr lang="en-US"/>
        </a:p>
      </dgm:t>
    </dgm:pt>
    <dgm:pt modelId="{05E75C20-462A-463D-9416-95BA3ADEF7FC}">
      <dgm:prSet/>
      <dgm:spPr/>
      <dgm:t>
        <a:bodyPr/>
        <a:lstStyle/>
        <a:p>
          <a:r>
            <a:rPr lang="en-GB" b="1"/>
            <a:t>Rainbow Tables: </a:t>
          </a:r>
          <a:r>
            <a:rPr lang="en-GB"/>
            <a:t>This technique is same as dictionary, but instead of calculating hash vales during password cracking; it stores the in-built hash values of password in the tables. Thus, this technique takes less time as compared to brute-force and dictionary technique to crack the password.</a:t>
          </a:r>
          <a:endParaRPr lang="en-US"/>
        </a:p>
      </dgm:t>
    </dgm:pt>
    <dgm:pt modelId="{78D69A84-455B-4C6F-B50F-3EB4930D0049}" type="parTrans" cxnId="{524C8048-73D0-439A-AAAB-AA7A5C769E11}">
      <dgm:prSet/>
      <dgm:spPr/>
      <dgm:t>
        <a:bodyPr/>
        <a:lstStyle/>
        <a:p>
          <a:endParaRPr lang="en-US"/>
        </a:p>
      </dgm:t>
    </dgm:pt>
    <dgm:pt modelId="{F3558A10-E4A4-4C91-901B-CE618B557260}" type="sibTrans" cxnId="{524C8048-73D0-439A-AAAB-AA7A5C769E11}">
      <dgm:prSet/>
      <dgm:spPr/>
      <dgm:t>
        <a:bodyPr/>
        <a:lstStyle/>
        <a:p>
          <a:endParaRPr lang="en-US"/>
        </a:p>
      </dgm:t>
    </dgm:pt>
    <dgm:pt modelId="{07253381-B99E-432C-9951-98F456C4E930}" type="pres">
      <dgm:prSet presAssocID="{BED9AC6E-91EB-492A-BFD0-EC9828A409D1}" presName="linear" presStyleCnt="0">
        <dgm:presLayoutVars>
          <dgm:animLvl val="lvl"/>
          <dgm:resizeHandles val="exact"/>
        </dgm:presLayoutVars>
      </dgm:prSet>
      <dgm:spPr/>
    </dgm:pt>
    <dgm:pt modelId="{BAD924A4-9262-4C71-A739-1D92A40C2476}" type="pres">
      <dgm:prSet presAssocID="{A1EF4845-DAA2-4270-888C-5E94509CB411}" presName="parentText" presStyleLbl="node1" presStyleIdx="0" presStyleCnt="3">
        <dgm:presLayoutVars>
          <dgm:chMax val="0"/>
          <dgm:bulletEnabled val="1"/>
        </dgm:presLayoutVars>
      </dgm:prSet>
      <dgm:spPr/>
    </dgm:pt>
    <dgm:pt modelId="{FD87F672-EF7F-41F3-AA4C-F07489288EAA}" type="pres">
      <dgm:prSet presAssocID="{79C7A65C-250D-48F4-A054-22887D1118C5}" presName="spacer" presStyleCnt="0"/>
      <dgm:spPr/>
    </dgm:pt>
    <dgm:pt modelId="{3B1587D3-6B9B-46FB-9874-A4B583208E5F}" type="pres">
      <dgm:prSet presAssocID="{93CFB31B-162D-4166-A1C4-6E63F7C137B0}" presName="parentText" presStyleLbl="node1" presStyleIdx="1" presStyleCnt="3">
        <dgm:presLayoutVars>
          <dgm:chMax val="0"/>
          <dgm:bulletEnabled val="1"/>
        </dgm:presLayoutVars>
      </dgm:prSet>
      <dgm:spPr/>
    </dgm:pt>
    <dgm:pt modelId="{2B4919A9-FDB9-4914-BC97-4A70386D2738}" type="pres">
      <dgm:prSet presAssocID="{C26993D0-E61A-4163-9597-0FACE49471CF}" presName="spacer" presStyleCnt="0"/>
      <dgm:spPr/>
    </dgm:pt>
    <dgm:pt modelId="{B3410765-8B3B-4CED-A75B-160E8CED8D4F}" type="pres">
      <dgm:prSet presAssocID="{05E75C20-462A-463D-9416-95BA3ADEF7FC}" presName="parentText" presStyleLbl="node1" presStyleIdx="2" presStyleCnt="3">
        <dgm:presLayoutVars>
          <dgm:chMax val="0"/>
          <dgm:bulletEnabled val="1"/>
        </dgm:presLayoutVars>
      </dgm:prSet>
      <dgm:spPr/>
    </dgm:pt>
  </dgm:ptLst>
  <dgm:cxnLst>
    <dgm:cxn modelId="{3F574C10-4AEE-462F-95E4-3A95C0233111}" srcId="{BED9AC6E-91EB-492A-BFD0-EC9828A409D1}" destId="{A1EF4845-DAA2-4270-888C-5E94509CB411}" srcOrd="0" destOrd="0" parTransId="{8A5ABEC1-C64B-4ECD-974E-23265FAC98BB}" sibTransId="{79C7A65C-250D-48F4-A054-22887D1118C5}"/>
    <dgm:cxn modelId="{2B9C563D-2785-4CC5-8B1E-6AD88B99CEF9}" type="presOf" srcId="{05E75C20-462A-463D-9416-95BA3ADEF7FC}" destId="{B3410765-8B3B-4CED-A75B-160E8CED8D4F}" srcOrd="0" destOrd="0" presId="urn:microsoft.com/office/officeart/2005/8/layout/vList2"/>
    <dgm:cxn modelId="{DC8F3B67-8CE3-4944-9C7B-E740B84E70A5}" type="presOf" srcId="{BED9AC6E-91EB-492A-BFD0-EC9828A409D1}" destId="{07253381-B99E-432C-9951-98F456C4E930}" srcOrd="0" destOrd="0" presId="urn:microsoft.com/office/officeart/2005/8/layout/vList2"/>
    <dgm:cxn modelId="{524C8048-73D0-439A-AAAB-AA7A5C769E11}" srcId="{BED9AC6E-91EB-492A-BFD0-EC9828A409D1}" destId="{05E75C20-462A-463D-9416-95BA3ADEF7FC}" srcOrd="2" destOrd="0" parTransId="{78D69A84-455B-4C6F-B50F-3EB4930D0049}" sibTransId="{F3558A10-E4A4-4C91-901B-CE618B557260}"/>
    <dgm:cxn modelId="{D7A861AB-09C6-4F28-BB55-9D6713E236BC}" type="presOf" srcId="{A1EF4845-DAA2-4270-888C-5E94509CB411}" destId="{BAD924A4-9262-4C71-A739-1D92A40C2476}" srcOrd="0" destOrd="0" presId="urn:microsoft.com/office/officeart/2005/8/layout/vList2"/>
    <dgm:cxn modelId="{72024DD5-D1F3-48C3-AABE-EE2F740348E2}" srcId="{BED9AC6E-91EB-492A-BFD0-EC9828A409D1}" destId="{93CFB31B-162D-4166-A1C4-6E63F7C137B0}" srcOrd="1" destOrd="0" parTransId="{C9D49246-5012-4F22-A869-B8EBDEA4C1F5}" sibTransId="{C26993D0-E61A-4163-9597-0FACE49471CF}"/>
    <dgm:cxn modelId="{283855E5-F31B-4812-8206-30E0A431F5D7}" type="presOf" srcId="{93CFB31B-162D-4166-A1C4-6E63F7C137B0}" destId="{3B1587D3-6B9B-46FB-9874-A4B583208E5F}" srcOrd="0" destOrd="0" presId="urn:microsoft.com/office/officeart/2005/8/layout/vList2"/>
    <dgm:cxn modelId="{B6F8B449-E76F-416D-AE78-14D808CE56CA}" type="presParOf" srcId="{07253381-B99E-432C-9951-98F456C4E930}" destId="{BAD924A4-9262-4C71-A739-1D92A40C2476}" srcOrd="0" destOrd="0" presId="urn:microsoft.com/office/officeart/2005/8/layout/vList2"/>
    <dgm:cxn modelId="{6B74CB13-4D9E-4BAF-B352-349EAE55492E}" type="presParOf" srcId="{07253381-B99E-432C-9951-98F456C4E930}" destId="{FD87F672-EF7F-41F3-AA4C-F07489288EAA}" srcOrd="1" destOrd="0" presId="urn:microsoft.com/office/officeart/2005/8/layout/vList2"/>
    <dgm:cxn modelId="{30E88312-00AC-47C4-BC69-5F14B12F45CF}" type="presParOf" srcId="{07253381-B99E-432C-9951-98F456C4E930}" destId="{3B1587D3-6B9B-46FB-9874-A4B583208E5F}" srcOrd="2" destOrd="0" presId="urn:microsoft.com/office/officeart/2005/8/layout/vList2"/>
    <dgm:cxn modelId="{4200B3DB-F575-44BE-ABD0-95C7C555184B}" type="presParOf" srcId="{07253381-B99E-432C-9951-98F456C4E930}" destId="{2B4919A9-FDB9-4914-BC97-4A70386D2738}" srcOrd="3" destOrd="0" presId="urn:microsoft.com/office/officeart/2005/8/layout/vList2"/>
    <dgm:cxn modelId="{4BA9185F-497D-429E-B146-B4EE0449A435}" type="presParOf" srcId="{07253381-B99E-432C-9951-98F456C4E930}" destId="{B3410765-8B3B-4CED-A75B-160E8CED8D4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A34FC2-EDC5-498D-BAE9-26C1CF8A6DBB}"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12ED9B41-66A9-472A-957B-38E9C824A431}">
      <dgm:prSet custT="1"/>
      <dgm:spPr/>
      <dgm:t>
        <a:bodyPr/>
        <a:lstStyle/>
        <a:p>
          <a:r>
            <a:rPr lang="en-US" sz="1600" b="1" dirty="0"/>
            <a:t>Step 1: </a:t>
          </a:r>
          <a:r>
            <a:rPr lang="en-US" sz="1600" dirty="0"/>
            <a:t>Open Run box by clicking “Window + R” on keyboard and type “regedit” as shown in the screenshot, respectively. Click “OK” to proceed.</a:t>
          </a:r>
        </a:p>
      </dgm:t>
    </dgm:pt>
    <dgm:pt modelId="{37C3AB69-946D-4941-9DC6-7A5044E09BE2}" type="parTrans" cxnId="{707542C2-5EEE-4C84-89ED-D3317E167828}">
      <dgm:prSet/>
      <dgm:spPr/>
      <dgm:t>
        <a:bodyPr/>
        <a:lstStyle/>
        <a:p>
          <a:endParaRPr lang="en-US"/>
        </a:p>
      </dgm:t>
    </dgm:pt>
    <dgm:pt modelId="{7E7E8AFD-155E-43D6-928B-C4077F948138}" type="sibTrans" cxnId="{707542C2-5EEE-4C84-89ED-D3317E167828}">
      <dgm:prSet phldrT="01"/>
      <dgm:spPr/>
      <dgm:t>
        <a:bodyPr/>
        <a:lstStyle/>
        <a:p>
          <a:endParaRPr lang="en-US"/>
        </a:p>
      </dgm:t>
    </dgm:pt>
    <dgm:pt modelId="{A9850090-209F-4D91-8CFB-48F753100A22}">
      <dgm:prSet custT="1"/>
      <dgm:spPr/>
      <dgm:t>
        <a:bodyPr/>
        <a:lstStyle/>
        <a:p>
          <a:r>
            <a:rPr lang="en-US" sz="1600" b="1" dirty="0"/>
            <a:t>Step 2: </a:t>
          </a:r>
          <a:r>
            <a:rPr lang="en-US" sz="1600" dirty="0"/>
            <a:t>A Registry Editor file with SAM and SYSTEM folder will open as shown. The SAM and SYSTEM files are in “</a:t>
          </a:r>
          <a:r>
            <a:rPr lang="en-US" sz="1600" i="1" dirty="0"/>
            <a:t>C:\Windows\System32\config</a:t>
          </a:r>
          <a:r>
            <a:rPr lang="en-US" sz="1600" dirty="0"/>
            <a:t>”.</a:t>
          </a:r>
        </a:p>
      </dgm:t>
    </dgm:pt>
    <dgm:pt modelId="{C6659430-C143-4305-8DA9-B8DB3A774C76}" type="parTrans" cxnId="{E85F31AA-F568-4FFA-A99D-C0159E0FE46A}">
      <dgm:prSet/>
      <dgm:spPr/>
      <dgm:t>
        <a:bodyPr/>
        <a:lstStyle/>
        <a:p>
          <a:endParaRPr lang="en-US"/>
        </a:p>
      </dgm:t>
    </dgm:pt>
    <dgm:pt modelId="{1B73C282-3963-47A9-9F42-E001CACF9581}" type="sibTrans" cxnId="{E85F31AA-F568-4FFA-A99D-C0159E0FE46A}">
      <dgm:prSet phldrT="02"/>
      <dgm:spPr/>
      <dgm:t>
        <a:bodyPr/>
        <a:lstStyle/>
        <a:p>
          <a:endParaRPr lang="en-US"/>
        </a:p>
      </dgm:t>
    </dgm:pt>
    <dgm:pt modelId="{70600D9A-77ED-4CE5-BF72-B9A5D8810736}" type="pres">
      <dgm:prSet presAssocID="{57A34FC2-EDC5-498D-BAE9-26C1CF8A6DBB}" presName="diagram" presStyleCnt="0">
        <dgm:presLayoutVars>
          <dgm:dir/>
          <dgm:resizeHandles val="exact"/>
        </dgm:presLayoutVars>
      </dgm:prSet>
      <dgm:spPr/>
    </dgm:pt>
    <dgm:pt modelId="{E1AFD333-7A5E-4400-B5B3-E77553211C9D}" type="pres">
      <dgm:prSet presAssocID="{12ED9B41-66A9-472A-957B-38E9C824A431}" presName="node" presStyleLbl="node1" presStyleIdx="0" presStyleCnt="2">
        <dgm:presLayoutVars>
          <dgm:bulletEnabled val="1"/>
        </dgm:presLayoutVars>
      </dgm:prSet>
      <dgm:spPr/>
    </dgm:pt>
    <dgm:pt modelId="{E59601C8-6B19-49B2-A5D1-D5E1BAD88C02}" type="pres">
      <dgm:prSet presAssocID="{7E7E8AFD-155E-43D6-928B-C4077F948138}" presName="sibTrans" presStyleCnt="0"/>
      <dgm:spPr/>
    </dgm:pt>
    <dgm:pt modelId="{B45F82F4-4D24-4DAE-AD76-C995481F92DB}" type="pres">
      <dgm:prSet presAssocID="{A9850090-209F-4D91-8CFB-48F753100A22}" presName="node" presStyleLbl="node1" presStyleIdx="1" presStyleCnt="2">
        <dgm:presLayoutVars>
          <dgm:bulletEnabled val="1"/>
        </dgm:presLayoutVars>
      </dgm:prSet>
      <dgm:spPr/>
    </dgm:pt>
  </dgm:ptLst>
  <dgm:cxnLst>
    <dgm:cxn modelId="{3A0B6B1F-FBAC-4B84-BBD2-30EFA9A445C0}" type="presOf" srcId="{57A34FC2-EDC5-498D-BAE9-26C1CF8A6DBB}" destId="{70600D9A-77ED-4CE5-BF72-B9A5D8810736}" srcOrd="0" destOrd="0" presId="urn:microsoft.com/office/officeart/2005/8/layout/default"/>
    <dgm:cxn modelId="{A29EA921-2308-4C59-9ED0-2C7CE7D4126D}" type="presOf" srcId="{12ED9B41-66A9-472A-957B-38E9C824A431}" destId="{E1AFD333-7A5E-4400-B5B3-E77553211C9D}" srcOrd="0" destOrd="0" presId="urn:microsoft.com/office/officeart/2005/8/layout/default"/>
    <dgm:cxn modelId="{3CD2D267-E9E2-4259-844C-BA330C87B089}" type="presOf" srcId="{A9850090-209F-4D91-8CFB-48F753100A22}" destId="{B45F82F4-4D24-4DAE-AD76-C995481F92DB}" srcOrd="0" destOrd="0" presId="urn:microsoft.com/office/officeart/2005/8/layout/default"/>
    <dgm:cxn modelId="{E85F31AA-F568-4FFA-A99D-C0159E0FE46A}" srcId="{57A34FC2-EDC5-498D-BAE9-26C1CF8A6DBB}" destId="{A9850090-209F-4D91-8CFB-48F753100A22}" srcOrd="1" destOrd="0" parTransId="{C6659430-C143-4305-8DA9-B8DB3A774C76}" sibTransId="{1B73C282-3963-47A9-9F42-E001CACF9581}"/>
    <dgm:cxn modelId="{707542C2-5EEE-4C84-89ED-D3317E167828}" srcId="{57A34FC2-EDC5-498D-BAE9-26C1CF8A6DBB}" destId="{12ED9B41-66A9-472A-957B-38E9C824A431}" srcOrd="0" destOrd="0" parTransId="{37C3AB69-946D-4941-9DC6-7A5044E09BE2}" sibTransId="{7E7E8AFD-155E-43D6-928B-C4077F948138}"/>
    <dgm:cxn modelId="{3906E414-A1E0-434B-912E-AF790A91C3CF}" type="presParOf" srcId="{70600D9A-77ED-4CE5-BF72-B9A5D8810736}" destId="{E1AFD333-7A5E-4400-B5B3-E77553211C9D}" srcOrd="0" destOrd="0" presId="urn:microsoft.com/office/officeart/2005/8/layout/default"/>
    <dgm:cxn modelId="{45AF521A-CAC1-4319-B01B-FB5E489C8EF6}" type="presParOf" srcId="{70600D9A-77ED-4CE5-BF72-B9A5D8810736}" destId="{E59601C8-6B19-49B2-A5D1-D5E1BAD88C02}" srcOrd="1" destOrd="0" presId="urn:microsoft.com/office/officeart/2005/8/layout/default"/>
    <dgm:cxn modelId="{AECFA475-BE21-4710-8386-A0E4A4267818}" type="presParOf" srcId="{70600D9A-77ED-4CE5-BF72-B9A5D8810736}" destId="{B45F82F4-4D24-4DAE-AD76-C995481F92DB}"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1824C8-D02C-4D80-8C07-7D228F3BA17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4AA7CBF-675E-4649-B1F9-B2CE58DBAB00}">
      <dgm:prSet/>
      <dgm:spPr/>
      <dgm:t>
        <a:bodyPr/>
        <a:lstStyle/>
        <a:p>
          <a:pPr>
            <a:lnSpc>
              <a:spcPct val="100000"/>
            </a:lnSpc>
          </a:pPr>
          <a:r>
            <a:rPr lang="en-US" b="1"/>
            <a:t>Step 3: </a:t>
          </a:r>
          <a:r>
            <a:rPr lang="en-GB"/>
            <a:t>These SAM and SYSTEM files can be accessed by registry editor after giving administrative permissions. Right click on the SAM file as shown below. Then allow “Full Control” and “Read” by clicking the check box. Do the same for SYSTEM.</a:t>
          </a:r>
          <a:endParaRPr lang="en-US"/>
        </a:p>
      </dgm:t>
    </dgm:pt>
    <dgm:pt modelId="{5F92BDCD-8D5D-4BAF-8DE7-6AFF27F041EB}" type="parTrans" cxnId="{76BB978D-7F68-4D32-8116-C250DCECDD25}">
      <dgm:prSet/>
      <dgm:spPr/>
      <dgm:t>
        <a:bodyPr/>
        <a:lstStyle/>
        <a:p>
          <a:endParaRPr lang="en-US"/>
        </a:p>
      </dgm:t>
    </dgm:pt>
    <dgm:pt modelId="{36EBC7D3-4D77-4AE6-997C-603141B61DCE}" type="sibTrans" cxnId="{76BB978D-7F68-4D32-8116-C250DCECDD25}">
      <dgm:prSet/>
      <dgm:spPr/>
      <dgm:t>
        <a:bodyPr/>
        <a:lstStyle/>
        <a:p>
          <a:endParaRPr lang="en-US"/>
        </a:p>
      </dgm:t>
    </dgm:pt>
    <dgm:pt modelId="{90B301E8-94E4-4806-A3D8-CF845A9BCDD0}">
      <dgm:prSet/>
      <dgm:spPr/>
      <dgm:t>
        <a:bodyPr/>
        <a:lstStyle/>
        <a:p>
          <a:pPr>
            <a:lnSpc>
              <a:spcPct val="100000"/>
            </a:lnSpc>
          </a:pPr>
          <a:r>
            <a:rPr lang="en-GB" b="1" dirty="0"/>
            <a:t>Step 4: </a:t>
          </a:r>
          <a:r>
            <a:rPr lang="en-GB" dirty="0"/>
            <a:t>Export the SAM file after giving the administrative permissions. Right click on the SAM file and click “Export”. Save the file by giving file name as “SAM” and type as “Registry Hive Files” as shown below.</a:t>
          </a:r>
          <a:endParaRPr lang="en-US" dirty="0"/>
        </a:p>
      </dgm:t>
    </dgm:pt>
    <dgm:pt modelId="{7400913F-D4A7-4319-B1E2-91CDBB0F6EAB}" type="parTrans" cxnId="{F4F8448A-2A2B-4AB2-84AC-C76993383EC5}">
      <dgm:prSet/>
      <dgm:spPr/>
      <dgm:t>
        <a:bodyPr/>
        <a:lstStyle/>
        <a:p>
          <a:endParaRPr lang="en-US"/>
        </a:p>
      </dgm:t>
    </dgm:pt>
    <dgm:pt modelId="{1EB7FE58-FD6D-4DCD-8F6C-1B486BC34CAA}" type="sibTrans" cxnId="{F4F8448A-2A2B-4AB2-84AC-C76993383EC5}">
      <dgm:prSet/>
      <dgm:spPr/>
      <dgm:t>
        <a:bodyPr/>
        <a:lstStyle/>
        <a:p>
          <a:endParaRPr lang="en-US"/>
        </a:p>
      </dgm:t>
    </dgm:pt>
    <dgm:pt modelId="{A60220AA-A448-4899-95DC-5A318287F804}" type="pres">
      <dgm:prSet presAssocID="{1C1824C8-D02C-4D80-8C07-7D228F3BA17B}" presName="linear" presStyleCnt="0">
        <dgm:presLayoutVars>
          <dgm:animLvl val="lvl"/>
          <dgm:resizeHandles val="exact"/>
        </dgm:presLayoutVars>
      </dgm:prSet>
      <dgm:spPr/>
    </dgm:pt>
    <dgm:pt modelId="{236B227C-7945-4383-85D9-7DB13F03DFF8}" type="pres">
      <dgm:prSet presAssocID="{04AA7CBF-675E-4649-B1F9-B2CE58DBAB00}" presName="parentText" presStyleLbl="node1" presStyleIdx="0" presStyleCnt="2">
        <dgm:presLayoutVars>
          <dgm:chMax val="0"/>
          <dgm:bulletEnabled val="1"/>
        </dgm:presLayoutVars>
      </dgm:prSet>
      <dgm:spPr/>
    </dgm:pt>
    <dgm:pt modelId="{C6AC52AC-3366-429A-B0F8-945C0A49111C}" type="pres">
      <dgm:prSet presAssocID="{36EBC7D3-4D77-4AE6-997C-603141B61DCE}" presName="spacer" presStyleCnt="0"/>
      <dgm:spPr/>
    </dgm:pt>
    <dgm:pt modelId="{F869C588-E077-4DF3-8FC7-DF992EFE3B02}" type="pres">
      <dgm:prSet presAssocID="{90B301E8-94E4-4806-A3D8-CF845A9BCDD0}" presName="parentText" presStyleLbl="node1" presStyleIdx="1" presStyleCnt="2">
        <dgm:presLayoutVars>
          <dgm:chMax val="0"/>
          <dgm:bulletEnabled val="1"/>
        </dgm:presLayoutVars>
      </dgm:prSet>
      <dgm:spPr/>
    </dgm:pt>
  </dgm:ptLst>
  <dgm:cxnLst>
    <dgm:cxn modelId="{28EEBB88-4E38-49D1-84A8-F92ABB29601D}" type="presOf" srcId="{90B301E8-94E4-4806-A3D8-CF845A9BCDD0}" destId="{F869C588-E077-4DF3-8FC7-DF992EFE3B02}" srcOrd="0" destOrd="0" presId="urn:microsoft.com/office/officeart/2005/8/layout/vList2"/>
    <dgm:cxn modelId="{F4F8448A-2A2B-4AB2-84AC-C76993383EC5}" srcId="{1C1824C8-D02C-4D80-8C07-7D228F3BA17B}" destId="{90B301E8-94E4-4806-A3D8-CF845A9BCDD0}" srcOrd="1" destOrd="0" parTransId="{7400913F-D4A7-4319-B1E2-91CDBB0F6EAB}" sibTransId="{1EB7FE58-FD6D-4DCD-8F6C-1B486BC34CAA}"/>
    <dgm:cxn modelId="{76BB978D-7F68-4D32-8116-C250DCECDD25}" srcId="{1C1824C8-D02C-4D80-8C07-7D228F3BA17B}" destId="{04AA7CBF-675E-4649-B1F9-B2CE58DBAB00}" srcOrd="0" destOrd="0" parTransId="{5F92BDCD-8D5D-4BAF-8DE7-6AFF27F041EB}" sibTransId="{36EBC7D3-4D77-4AE6-997C-603141B61DCE}"/>
    <dgm:cxn modelId="{653C71A3-5331-4249-8F7D-2CDAEB2F215E}" type="presOf" srcId="{04AA7CBF-675E-4649-B1F9-B2CE58DBAB00}" destId="{236B227C-7945-4383-85D9-7DB13F03DFF8}" srcOrd="0" destOrd="0" presId="urn:microsoft.com/office/officeart/2005/8/layout/vList2"/>
    <dgm:cxn modelId="{E1DA96CB-8428-4A02-8FA9-63EA0BE86A12}" type="presOf" srcId="{1C1824C8-D02C-4D80-8C07-7D228F3BA17B}" destId="{A60220AA-A448-4899-95DC-5A318287F804}" srcOrd="0" destOrd="0" presId="urn:microsoft.com/office/officeart/2005/8/layout/vList2"/>
    <dgm:cxn modelId="{33966EB0-943E-410F-AACC-DC3BB07A8894}" type="presParOf" srcId="{A60220AA-A448-4899-95DC-5A318287F804}" destId="{236B227C-7945-4383-85D9-7DB13F03DFF8}" srcOrd="0" destOrd="0" presId="urn:microsoft.com/office/officeart/2005/8/layout/vList2"/>
    <dgm:cxn modelId="{09EA07F7-E22D-49F2-9599-9605DF9D94B1}" type="presParOf" srcId="{A60220AA-A448-4899-95DC-5A318287F804}" destId="{C6AC52AC-3366-429A-B0F8-945C0A49111C}" srcOrd="1" destOrd="0" presId="urn:microsoft.com/office/officeart/2005/8/layout/vList2"/>
    <dgm:cxn modelId="{CADE9633-96D3-4417-A7B8-10E7BD8B586D}" type="presParOf" srcId="{A60220AA-A448-4899-95DC-5A318287F804}" destId="{F869C588-E077-4DF3-8FC7-DF992EFE3B02}"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F30621-8329-4BAF-B147-5EBBA13CA50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153FFE2-B29B-46BF-A9AC-582A93B631AE}">
      <dgm:prSet/>
      <dgm:spPr/>
      <dgm:t>
        <a:bodyPr/>
        <a:lstStyle/>
        <a:p>
          <a:pPr>
            <a:lnSpc>
              <a:spcPct val="100000"/>
            </a:lnSpc>
          </a:pPr>
          <a:r>
            <a:rPr lang="en-US" b="1" dirty="0"/>
            <a:t>Different Password: </a:t>
          </a:r>
          <a:r>
            <a:rPr lang="en-GB" dirty="0"/>
            <a:t>Use different passwords for different device or websites.</a:t>
          </a:r>
          <a:endParaRPr lang="en-US" dirty="0"/>
        </a:p>
      </dgm:t>
    </dgm:pt>
    <dgm:pt modelId="{D4010FD6-F8D9-4546-9095-FFC19BAD2317}" type="parTrans" cxnId="{56DE2017-22FC-4C6C-9B37-EF6E94FF2620}">
      <dgm:prSet/>
      <dgm:spPr/>
      <dgm:t>
        <a:bodyPr/>
        <a:lstStyle/>
        <a:p>
          <a:endParaRPr lang="en-US"/>
        </a:p>
      </dgm:t>
    </dgm:pt>
    <dgm:pt modelId="{0FACA659-D5ED-4095-9A5F-BCCB43697574}" type="sibTrans" cxnId="{56DE2017-22FC-4C6C-9B37-EF6E94FF2620}">
      <dgm:prSet/>
      <dgm:spPr/>
      <dgm:t>
        <a:bodyPr/>
        <a:lstStyle/>
        <a:p>
          <a:pPr>
            <a:lnSpc>
              <a:spcPct val="100000"/>
            </a:lnSpc>
          </a:pPr>
          <a:endParaRPr lang="en-US"/>
        </a:p>
      </dgm:t>
    </dgm:pt>
    <dgm:pt modelId="{54793EA7-DBEE-4CA2-A622-E65FA8CCD90B}">
      <dgm:prSet/>
      <dgm:spPr/>
      <dgm:t>
        <a:bodyPr/>
        <a:lstStyle/>
        <a:p>
          <a:pPr>
            <a:lnSpc>
              <a:spcPct val="100000"/>
            </a:lnSpc>
          </a:pPr>
          <a:r>
            <a:rPr lang="en-US" b="1" dirty="0"/>
            <a:t>Sharing Password:</a:t>
          </a:r>
          <a:r>
            <a:rPr lang="en-GB" dirty="0"/>
            <a:t>Do not share passwords with anyone or change password immediately after usage, if shared.</a:t>
          </a:r>
          <a:endParaRPr lang="en-US" dirty="0"/>
        </a:p>
      </dgm:t>
    </dgm:pt>
    <dgm:pt modelId="{AD80A423-341C-4F12-A3FA-A30FBEFE69B0}" type="parTrans" cxnId="{A298A3F4-E00E-4310-A6FD-386D751B6B1C}">
      <dgm:prSet/>
      <dgm:spPr/>
      <dgm:t>
        <a:bodyPr/>
        <a:lstStyle/>
        <a:p>
          <a:endParaRPr lang="en-US"/>
        </a:p>
      </dgm:t>
    </dgm:pt>
    <dgm:pt modelId="{D0E1D357-23D9-4F77-BE3E-D2AD2DFBDECE}" type="sibTrans" cxnId="{A298A3F4-E00E-4310-A6FD-386D751B6B1C}">
      <dgm:prSet/>
      <dgm:spPr/>
      <dgm:t>
        <a:bodyPr/>
        <a:lstStyle/>
        <a:p>
          <a:pPr>
            <a:lnSpc>
              <a:spcPct val="100000"/>
            </a:lnSpc>
          </a:pPr>
          <a:endParaRPr lang="en-US"/>
        </a:p>
      </dgm:t>
    </dgm:pt>
    <dgm:pt modelId="{195EF959-9801-406F-B32C-589A82D2D7C2}">
      <dgm:prSet/>
      <dgm:spPr>
        <a:blipFill rotWithShape="0">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t>
        <a:bodyPr/>
        <a:lstStyle/>
        <a:p>
          <a:pPr>
            <a:lnSpc>
              <a:spcPct val="100000"/>
            </a:lnSpc>
          </a:pPr>
          <a:r>
            <a:rPr lang="en-US" b="1" dirty="0"/>
            <a:t>Personal Information: </a:t>
          </a:r>
          <a:r>
            <a:rPr lang="en-GB" dirty="0"/>
            <a:t>Do not use personal information such as date of birth, pet names, vehicle number, etc. An attacker can easily guess the password by knowing personal details through social engineering.</a:t>
          </a:r>
          <a:endParaRPr lang="en-US" dirty="0"/>
        </a:p>
      </dgm:t>
    </dgm:pt>
    <dgm:pt modelId="{1174A27E-C4BD-4679-9895-9183B5459E10}" type="parTrans" cxnId="{A169CD43-2803-4B80-94E7-3FCC94E29BF9}">
      <dgm:prSet/>
      <dgm:spPr/>
      <dgm:t>
        <a:bodyPr/>
        <a:lstStyle/>
        <a:p>
          <a:endParaRPr lang="en-US"/>
        </a:p>
      </dgm:t>
    </dgm:pt>
    <dgm:pt modelId="{C94B9350-FD04-4C40-AB2C-DEFCBE42C7F4}" type="sibTrans" cxnId="{A169CD43-2803-4B80-94E7-3FCC94E29BF9}">
      <dgm:prSet/>
      <dgm:spPr/>
      <dgm:t>
        <a:bodyPr/>
        <a:lstStyle/>
        <a:p>
          <a:pPr>
            <a:lnSpc>
              <a:spcPct val="100000"/>
            </a:lnSpc>
          </a:pPr>
          <a:endParaRPr lang="en-US"/>
        </a:p>
      </dgm:t>
    </dgm:pt>
    <dgm:pt modelId="{1F484A7E-ECCC-455C-95FF-B40C2652ACE3}">
      <dgm:prSet/>
      <dgm:spPr/>
      <dgm:t>
        <a:bodyPr/>
        <a:lstStyle/>
        <a:p>
          <a:pPr>
            <a:lnSpc>
              <a:spcPct val="100000"/>
            </a:lnSpc>
          </a:pPr>
          <a:r>
            <a:rPr lang="en-US" b="1" dirty="0"/>
            <a:t>Storing Password: </a:t>
          </a:r>
          <a:r>
            <a:rPr lang="en-GB" dirty="0"/>
            <a:t>Avoid storing passwords in an unsecured location such as desktop or mobile phones. An attacker can access those passwords by hacking the device. Try to remember the passwords. And consider using </a:t>
          </a:r>
          <a:r>
            <a:rPr lang="en-GB"/>
            <a:t>password manager. </a:t>
          </a:r>
          <a:endParaRPr lang="en-US" dirty="0"/>
        </a:p>
      </dgm:t>
    </dgm:pt>
    <dgm:pt modelId="{792652A4-C8D6-4E56-A1F7-9DB50237DB23}" type="parTrans" cxnId="{22B2A272-A95C-4A28-B368-3C1652A50B87}">
      <dgm:prSet/>
      <dgm:spPr/>
      <dgm:t>
        <a:bodyPr/>
        <a:lstStyle/>
        <a:p>
          <a:endParaRPr lang="en-GB"/>
        </a:p>
      </dgm:t>
    </dgm:pt>
    <dgm:pt modelId="{C1731877-379B-4D8E-8993-F231CFB28704}" type="sibTrans" cxnId="{22B2A272-A95C-4A28-B368-3C1652A50B87}">
      <dgm:prSet/>
      <dgm:spPr/>
      <dgm:t>
        <a:bodyPr/>
        <a:lstStyle/>
        <a:p>
          <a:pPr>
            <a:lnSpc>
              <a:spcPct val="100000"/>
            </a:lnSpc>
          </a:pPr>
          <a:endParaRPr lang="en-GB"/>
        </a:p>
      </dgm:t>
    </dgm:pt>
    <dgm:pt modelId="{5D835F09-A22F-4063-8FFF-696963C3EBBA}" type="pres">
      <dgm:prSet presAssocID="{83F30621-8329-4BAF-B147-5EBBA13CA509}" presName="root" presStyleCnt="0">
        <dgm:presLayoutVars>
          <dgm:dir/>
          <dgm:resizeHandles val="exact"/>
        </dgm:presLayoutVars>
      </dgm:prSet>
      <dgm:spPr/>
    </dgm:pt>
    <dgm:pt modelId="{7F46C654-611F-4DB9-B66B-C0B7050B9192}" type="pres">
      <dgm:prSet presAssocID="{83F30621-8329-4BAF-B147-5EBBA13CA509}" presName="container" presStyleCnt="0">
        <dgm:presLayoutVars>
          <dgm:dir/>
          <dgm:resizeHandles val="exact"/>
        </dgm:presLayoutVars>
      </dgm:prSet>
      <dgm:spPr/>
    </dgm:pt>
    <dgm:pt modelId="{9E890FA5-2DE9-4A86-8246-15E5FA63BFE3}" type="pres">
      <dgm:prSet presAssocID="{5153FFE2-B29B-46BF-A9AC-582A93B631AE}" presName="compNode" presStyleCnt="0"/>
      <dgm:spPr/>
    </dgm:pt>
    <dgm:pt modelId="{A30B9689-4731-435D-A0A8-695F6C83BBA5}" type="pres">
      <dgm:prSet presAssocID="{5153FFE2-B29B-46BF-A9AC-582A93B631AE}" presName="iconBgRect" presStyleLbl="bgShp" presStyleIdx="0" presStyleCnt="4"/>
      <dgm:spPr/>
    </dgm:pt>
    <dgm:pt modelId="{672AC0DF-CB9D-41F8-9CA2-D66D234FA8BF}" type="pres">
      <dgm:prSet presAssocID="{5153FFE2-B29B-46BF-A9AC-582A93B631A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F4DB9B59-2CA4-4FAA-908F-078B6B33A288}" type="pres">
      <dgm:prSet presAssocID="{5153FFE2-B29B-46BF-A9AC-582A93B631AE}" presName="spaceRect" presStyleCnt="0"/>
      <dgm:spPr/>
    </dgm:pt>
    <dgm:pt modelId="{56774D65-B214-404F-A5BC-7C383FC08C7E}" type="pres">
      <dgm:prSet presAssocID="{5153FFE2-B29B-46BF-A9AC-582A93B631AE}" presName="textRect" presStyleLbl="revTx" presStyleIdx="0" presStyleCnt="4">
        <dgm:presLayoutVars>
          <dgm:chMax val="1"/>
          <dgm:chPref val="1"/>
        </dgm:presLayoutVars>
      </dgm:prSet>
      <dgm:spPr/>
    </dgm:pt>
    <dgm:pt modelId="{917B9680-22BE-4A85-9FB7-91D929903D27}" type="pres">
      <dgm:prSet presAssocID="{0FACA659-D5ED-4095-9A5F-BCCB43697574}" presName="sibTrans" presStyleLbl="sibTrans2D1" presStyleIdx="0" presStyleCnt="0"/>
      <dgm:spPr/>
    </dgm:pt>
    <dgm:pt modelId="{588D7EC6-3295-4815-BBB6-9ADEEB01F67F}" type="pres">
      <dgm:prSet presAssocID="{54793EA7-DBEE-4CA2-A622-E65FA8CCD90B}" presName="compNode" presStyleCnt="0"/>
      <dgm:spPr/>
    </dgm:pt>
    <dgm:pt modelId="{B0A3E828-8262-410F-905B-B87F63BAAA15}" type="pres">
      <dgm:prSet presAssocID="{54793EA7-DBEE-4CA2-A622-E65FA8CCD90B}" presName="iconBgRect" presStyleLbl="bgShp" presStyleIdx="1" presStyleCnt="4"/>
      <dgm:spPr/>
    </dgm:pt>
    <dgm:pt modelId="{348893F1-AF66-4293-9E59-E08037C05250}" type="pres">
      <dgm:prSet presAssocID="{54793EA7-DBEE-4CA2-A622-E65FA8CCD90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nlock"/>
        </a:ext>
      </dgm:extLst>
    </dgm:pt>
    <dgm:pt modelId="{D55374D9-C938-4202-9E8B-546997B06C66}" type="pres">
      <dgm:prSet presAssocID="{54793EA7-DBEE-4CA2-A622-E65FA8CCD90B}" presName="spaceRect" presStyleCnt="0"/>
      <dgm:spPr/>
    </dgm:pt>
    <dgm:pt modelId="{34F0BE26-FE1C-4CF6-B76E-3049B7A97FE4}" type="pres">
      <dgm:prSet presAssocID="{54793EA7-DBEE-4CA2-A622-E65FA8CCD90B}" presName="textRect" presStyleLbl="revTx" presStyleIdx="1" presStyleCnt="4">
        <dgm:presLayoutVars>
          <dgm:chMax val="1"/>
          <dgm:chPref val="1"/>
        </dgm:presLayoutVars>
      </dgm:prSet>
      <dgm:spPr/>
    </dgm:pt>
    <dgm:pt modelId="{C8672EA0-A1F5-4A97-BF02-5FFC307FEB56}" type="pres">
      <dgm:prSet presAssocID="{D0E1D357-23D9-4F77-BE3E-D2AD2DFBDECE}" presName="sibTrans" presStyleLbl="sibTrans2D1" presStyleIdx="0" presStyleCnt="0"/>
      <dgm:spPr/>
    </dgm:pt>
    <dgm:pt modelId="{61E4776C-29AC-4812-8133-F35EED06CAD2}" type="pres">
      <dgm:prSet presAssocID="{1F484A7E-ECCC-455C-95FF-B40C2652ACE3}" presName="compNode" presStyleCnt="0"/>
      <dgm:spPr/>
    </dgm:pt>
    <dgm:pt modelId="{4C7D3456-1ECF-4758-AD70-1830226532F4}" type="pres">
      <dgm:prSet presAssocID="{1F484A7E-ECCC-455C-95FF-B40C2652ACE3}" presName="iconBgRect" presStyleLbl="bgShp" presStyleIdx="2" presStyleCnt="4"/>
      <dgm:spPr/>
    </dgm:pt>
    <dgm:pt modelId="{75F66818-A6B8-404C-A2C5-86CE34CB6437}" type="pres">
      <dgm:prSet presAssocID="{1F484A7E-ECCC-455C-95FF-B40C2652ACE3}" presName="iconRect" presStyleLbl="node1" presStyleIdx="2" presStyleCnt="4"/>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9DB8D65-5338-4A03-AF05-2750096C1F5F}" type="pres">
      <dgm:prSet presAssocID="{1F484A7E-ECCC-455C-95FF-B40C2652ACE3}" presName="spaceRect" presStyleCnt="0"/>
      <dgm:spPr/>
    </dgm:pt>
    <dgm:pt modelId="{93BB2A56-E983-491D-A52B-D2419B73E84A}" type="pres">
      <dgm:prSet presAssocID="{1F484A7E-ECCC-455C-95FF-B40C2652ACE3}" presName="textRect" presStyleLbl="revTx" presStyleIdx="2" presStyleCnt="4">
        <dgm:presLayoutVars>
          <dgm:chMax val="1"/>
          <dgm:chPref val="1"/>
        </dgm:presLayoutVars>
      </dgm:prSet>
      <dgm:spPr/>
    </dgm:pt>
    <dgm:pt modelId="{4ABD6ED7-81CF-43F9-BC3F-F15DC2DE2DA2}" type="pres">
      <dgm:prSet presAssocID="{C1731877-379B-4D8E-8993-F231CFB28704}" presName="sibTrans" presStyleLbl="sibTrans2D1" presStyleIdx="0" presStyleCnt="0"/>
      <dgm:spPr/>
    </dgm:pt>
    <dgm:pt modelId="{7C6AAACB-F094-41A4-9160-F9AA449B112A}" type="pres">
      <dgm:prSet presAssocID="{195EF959-9801-406F-B32C-589A82D2D7C2}" presName="compNode" presStyleCnt="0"/>
      <dgm:spPr/>
    </dgm:pt>
    <dgm:pt modelId="{A1707FCD-F031-41CA-9A5E-896D673D4F29}" type="pres">
      <dgm:prSet presAssocID="{195EF959-9801-406F-B32C-589A82D2D7C2}" presName="iconBgRect" presStyleLbl="bgShp" presStyleIdx="3" presStyleCnt="4"/>
      <dgm:spPr/>
    </dgm:pt>
    <dgm:pt modelId="{8434861C-AF50-4090-9BC1-C99F3104FDE2}" type="pres">
      <dgm:prSet presAssocID="{195EF959-9801-406F-B32C-589A82D2D7C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E1B3C1E7-5F8F-4B4F-9F06-AAF4EF7B4079}" type="pres">
      <dgm:prSet presAssocID="{195EF959-9801-406F-B32C-589A82D2D7C2}" presName="spaceRect" presStyleCnt="0"/>
      <dgm:spPr/>
    </dgm:pt>
    <dgm:pt modelId="{6584CC05-9065-4D32-9455-F683AE318987}" type="pres">
      <dgm:prSet presAssocID="{195EF959-9801-406F-B32C-589A82D2D7C2}" presName="textRect" presStyleLbl="revTx" presStyleIdx="3" presStyleCnt="4">
        <dgm:presLayoutVars>
          <dgm:chMax val="1"/>
          <dgm:chPref val="1"/>
        </dgm:presLayoutVars>
      </dgm:prSet>
      <dgm:spPr/>
    </dgm:pt>
  </dgm:ptLst>
  <dgm:cxnLst>
    <dgm:cxn modelId="{56DE2017-22FC-4C6C-9B37-EF6E94FF2620}" srcId="{83F30621-8329-4BAF-B147-5EBBA13CA509}" destId="{5153FFE2-B29B-46BF-A9AC-582A93B631AE}" srcOrd="0" destOrd="0" parTransId="{D4010FD6-F8D9-4546-9095-FFC19BAD2317}" sibTransId="{0FACA659-D5ED-4095-9A5F-BCCB43697574}"/>
    <dgm:cxn modelId="{D0A3C21B-E666-42E9-8023-72F993423921}" type="presOf" srcId="{C1731877-379B-4D8E-8993-F231CFB28704}" destId="{4ABD6ED7-81CF-43F9-BC3F-F15DC2DE2DA2}" srcOrd="0" destOrd="0" presId="urn:microsoft.com/office/officeart/2018/2/layout/IconCircleList"/>
    <dgm:cxn modelId="{B0F69020-124F-4EEE-ADE3-B2576645EB0C}" type="presOf" srcId="{54793EA7-DBEE-4CA2-A622-E65FA8CCD90B}" destId="{34F0BE26-FE1C-4CF6-B76E-3049B7A97FE4}" srcOrd="0" destOrd="0" presId="urn:microsoft.com/office/officeart/2018/2/layout/IconCircleList"/>
    <dgm:cxn modelId="{02431B2B-7918-4508-9D0F-F01E0112FA35}" type="presOf" srcId="{D0E1D357-23D9-4F77-BE3E-D2AD2DFBDECE}" destId="{C8672EA0-A1F5-4A97-BF02-5FFC307FEB56}" srcOrd="0" destOrd="0" presId="urn:microsoft.com/office/officeart/2018/2/layout/IconCircleList"/>
    <dgm:cxn modelId="{E0458F3E-50CE-4CEB-95A1-956B66606B09}" type="presOf" srcId="{1F484A7E-ECCC-455C-95FF-B40C2652ACE3}" destId="{93BB2A56-E983-491D-A52B-D2419B73E84A}" srcOrd="0" destOrd="0" presId="urn:microsoft.com/office/officeart/2018/2/layout/IconCircleList"/>
    <dgm:cxn modelId="{A169CD43-2803-4B80-94E7-3FCC94E29BF9}" srcId="{83F30621-8329-4BAF-B147-5EBBA13CA509}" destId="{195EF959-9801-406F-B32C-589A82D2D7C2}" srcOrd="3" destOrd="0" parTransId="{1174A27E-C4BD-4679-9895-9183B5459E10}" sibTransId="{C94B9350-FD04-4C40-AB2C-DEFCBE42C7F4}"/>
    <dgm:cxn modelId="{22B2A272-A95C-4A28-B368-3C1652A50B87}" srcId="{83F30621-8329-4BAF-B147-5EBBA13CA509}" destId="{1F484A7E-ECCC-455C-95FF-B40C2652ACE3}" srcOrd="2" destOrd="0" parTransId="{792652A4-C8D6-4E56-A1F7-9DB50237DB23}" sibTransId="{C1731877-379B-4D8E-8993-F231CFB28704}"/>
    <dgm:cxn modelId="{B9CA7D79-714C-4D95-869D-DEFE734EB62B}" type="presOf" srcId="{83F30621-8329-4BAF-B147-5EBBA13CA509}" destId="{5D835F09-A22F-4063-8FFF-696963C3EBBA}" srcOrd="0" destOrd="0" presId="urn:microsoft.com/office/officeart/2018/2/layout/IconCircleList"/>
    <dgm:cxn modelId="{2844BE59-709A-435A-BADB-C508E6B36881}" type="presOf" srcId="{0FACA659-D5ED-4095-9A5F-BCCB43697574}" destId="{917B9680-22BE-4A85-9FB7-91D929903D27}" srcOrd="0" destOrd="0" presId="urn:microsoft.com/office/officeart/2018/2/layout/IconCircleList"/>
    <dgm:cxn modelId="{B033299C-7847-4604-B438-106E1CE83838}" type="presOf" srcId="{195EF959-9801-406F-B32C-589A82D2D7C2}" destId="{6584CC05-9065-4D32-9455-F683AE318987}" srcOrd="0" destOrd="0" presId="urn:microsoft.com/office/officeart/2018/2/layout/IconCircleList"/>
    <dgm:cxn modelId="{A119CBD1-D257-432C-B144-274EC30AE077}" type="presOf" srcId="{5153FFE2-B29B-46BF-A9AC-582A93B631AE}" destId="{56774D65-B214-404F-A5BC-7C383FC08C7E}" srcOrd="0" destOrd="0" presId="urn:microsoft.com/office/officeart/2018/2/layout/IconCircleList"/>
    <dgm:cxn modelId="{A298A3F4-E00E-4310-A6FD-386D751B6B1C}" srcId="{83F30621-8329-4BAF-B147-5EBBA13CA509}" destId="{54793EA7-DBEE-4CA2-A622-E65FA8CCD90B}" srcOrd="1" destOrd="0" parTransId="{AD80A423-341C-4F12-A3FA-A30FBEFE69B0}" sibTransId="{D0E1D357-23D9-4F77-BE3E-D2AD2DFBDECE}"/>
    <dgm:cxn modelId="{623D30EC-9A76-4743-AAF7-5D94CDF7CB55}" type="presParOf" srcId="{5D835F09-A22F-4063-8FFF-696963C3EBBA}" destId="{7F46C654-611F-4DB9-B66B-C0B7050B9192}" srcOrd="0" destOrd="0" presId="urn:microsoft.com/office/officeart/2018/2/layout/IconCircleList"/>
    <dgm:cxn modelId="{A160BFEB-7274-403A-BBA5-B0EE3F450524}" type="presParOf" srcId="{7F46C654-611F-4DB9-B66B-C0B7050B9192}" destId="{9E890FA5-2DE9-4A86-8246-15E5FA63BFE3}" srcOrd="0" destOrd="0" presId="urn:microsoft.com/office/officeart/2018/2/layout/IconCircleList"/>
    <dgm:cxn modelId="{A6F7DE95-64EE-4B41-84EF-AF03C92DF3FD}" type="presParOf" srcId="{9E890FA5-2DE9-4A86-8246-15E5FA63BFE3}" destId="{A30B9689-4731-435D-A0A8-695F6C83BBA5}" srcOrd="0" destOrd="0" presId="urn:microsoft.com/office/officeart/2018/2/layout/IconCircleList"/>
    <dgm:cxn modelId="{B6646C32-537B-4C99-8D82-EC13A355A46D}" type="presParOf" srcId="{9E890FA5-2DE9-4A86-8246-15E5FA63BFE3}" destId="{672AC0DF-CB9D-41F8-9CA2-D66D234FA8BF}" srcOrd="1" destOrd="0" presId="urn:microsoft.com/office/officeart/2018/2/layout/IconCircleList"/>
    <dgm:cxn modelId="{DFB7CA39-6352-4367-9129-A31918EC8401}" type="presParOf" srcId="{9E890FA5-2DE9-4A86-8246-15E5FA63BFE3}" destId="{F4DB9B59-2CA4-4FAA-908F-078B6B33A288}" srcOrd="2" destOrd="0" presId="urn:microsoft.com/office/officeart/2018/2/layout/IconCircleList"/>
    <dgm:cxn modelId="{24EDEFCA-AB35-4CF5-BBF7-7EB249001D91}" type="presParOf" srcId="{9E890FA5-2DE9-4A86-8246-15E5FA63BFE3}" destId="{56774D65-B214-404F-A5BC-7C383FC08C7E}" srcOrd="3" destOrd="0" presId="urn:microsoft.com/office/officeart/2018/2/layout/IconCircleList"/>
    <dgm:cxn modelId="{25D0600E-76DA-44C0-92AC-9C49BC54D747}" type="presParOf" srcId="{7F46C654-611F-4DB9-B66B-C0B7050B9192}" destId="{917B9680-22BE-4A85-9FB7-91D929903D27}" srcOrd="1" destOrd="0" presId="urn:microsoft.com/office/officeart/2018/2/layout/IconCircleList"/>
    <dgm:cxn modelId="{E1FDF6B7-B9CE-44DD-BF61-D8927E8CA0E6}" type="presParOf" srcId="{7F46C654-611F-4DB9-B66B-C0B7050B9192}" destId="{588D7EC6-3295-4815-BBB6-9ADEEB01F67F}" srcOrd="2" destOrd="0" presId="urn:microsoft.com/office/officeart/2018/2/layout/IconCircleList"/>
    <dgm:cxn modelId="{480BF3D4-1D84-4A77-9D06-468140C7F780}" type="presParOf" srcId="{588D7EC6-3295-4815-BBB6-9ADEEB01F67F}" destId="{B0A3E828-8262-410F-905B-B87F63BAAA15}" srcOrd="0" destOrd="0" presId="urn:microsoft.com/office/officeart/2018/2/layout/IconCircleList"/>
    <dgm:cxn modelId="{690AAC5C-5DEC-49AA-B764-36999E2DA26B}" type="presParOf" srcId="{588D7EC6-3295-4815-BBB6-9ADEEB01F67F}" destId="{348893F1-AF66-4293-9E59-E08037C05250}" srcOrd="1" destOrd="0" presId="urn:microsoft.com/office/officeart/2018/2/layout/IconCircleList"/>
    <dgm:cxn modelId="{E0714502-9D79-446B-90E9-DCA9DAD820E7}" type="presParOf" srcId="{588D7EC6-3295-4815-BBB6-9ADEEB01F67F}" destId="{D55374D9-C938-4202-9E8B-546997B06C66}" srcOrd="2" destOrd="0" presId="urn:microsoft.com/office/officeart/2018/2/layout/IconCircleList"/>
    <dgm:cxn modelId="{A0DCD5FA-DBAB-4141-897B-B34AAA494DE1}" type="presParOf" srcId="{588D7EC6-3295-4815-BBB6-9ADEEB01F67F}" destId="{34F0BE26-FE1C-4CF6-B76E-3049B7A97FE4}" srcOrd="3" destOrd="0" presId="urn:microsoft.com/office/officeart/2018/2/layout/IconCircleList"/>
    <dgm:cxn modelId="{8C837F1D-2BCF-45FF-A4E5-31AE102CDF55}" type="presParOf" srcId="{7F46C654-611F-4DB9-B66B-C0B7050B9192}" destId="{C8672EA0-A1F5-4A97-BF02-5FFC307FEB56}" srcOrd="3" destOrd="0" presId="urn:microsoft.com/office/officeart/2018/2/layout/IconCircleList"/>
    <dgm:cxn modelId="{E7A0CF34-3DCE-4EA4-90C7-D1FA329EB711}" type="presParOf" srcId="{7F46C654-611F-4DB9-B66B-C0B7050B9192}" destId="{61E4776C-29AC-4812-8133-F35EED06CAD2}" srcOrd="4" destOrd="0" presId="urn:microsoft.com/office/officeart/2018/2/layout/IconCircleList"/>
    <dgm:cxn modelId="{8577BEB3-80F7-4250-A808-643B394A0809}" type="presParOf" srcId="{61E4776C-29AC-4812-8133-F35EED06CAD2}" destId="{4C7D3456-1ECF-4758-AD70-1830226532F4}" srcOrd="0" destOrd="0" presId="urn:microsoft.com/office/officeart/2018/2/layout/IconCircleList"/>
    <dgm:cxn modelId="{E4730194-56D2-4DD8-AA16-1FA8C5B97943}" type="presParOf" srcId="{61E4776C-29AC-4812-8133-F35EED06CAD2}" destId="{75F66818-A6B8-404C-A2C5-86CE34CB6437}" srcOrd="1" destOrd="0" presId="urn:microsoft.com/office/officeart/2018/2/layout/IconCircleList"/>
    <dgm:cxn modelId="{65073978-98C3-4687-84E5-9D51997C84A7}" type="presParOf" srcId="{61E4776C-29AC-4812-8133-F35EED06CAD2}" destId="{C9DB8D65-5338-4A03-AF05-2750096C1F5F}" srcOrd="2" destOrd="0" presId="urn:microsoft.com/office/officeart/2018/2/layout/IconCircleList"/>
    <dgm:cxn modelId="{C590C51B-60BF-4033-B152-2A3B56D0C500}" type="presParOf" srcId="{61E4776C-29AC-4812-8133-F35EED06CAD2}" destId="{93BB2A56-E983-491D-A52B-D2419B73E84A}" srcOrd="3" destOrd="0" presId="urn:microsoft.com/office/officeart/2018/2/layout/IconCircleList"/>
    <dgm:cxn modelId="{C64ADC15-6E31-44AF-BFB3-3A7E10AAF93F}" type="presParOf" srcId="{7F46C654-611F-4DB9-B66B-C0B7050B9192}" destId="{4ABD6ED7-81CF-43F9-BC3F-F15DC2DE2DA2}" srcOrd="5" destOrd="0" presId="urn:microsoft.com/office/officeart/2018/2/layout/IconCircleList"/>
    <dgm:cxn modelId="{1FE38B6D-14BB-4516-9B0A-63E5DF2754F7}" type="presParOf" srcId="{7F46C654-611F-4DB9-B66B-C0B7050B9192}" destId="{7C6AAACB-F094-41A4-9160-F9AA449B112A}" srcOrd="6" destOrd="0" presId="urn:microsoft.com/office/officeart/2018/2/layout/IconCircleList"/>
    <dgm:cxn modelId="{D10DCF65-621F-4286-BE6D-64C705E6BE03}" type="presParOf" srcId="{7C6AAACB-F094-41A4-9160-F9AA449B112A}" destId="{A1707FCD-F031-41CA-9A5E-896D673D4F29}" srcOrd="0" destOrd="0" presId="urn:microsoft.com/office/officeart/2018/2/layout/IconCircleList"/>
    <dgm:cxn modelId="{E5638A78-D447-4A7D-B55C-604074DE0A94}" type="presParOf" srcId="{7C6AAACB-F094-41A4-9160-F9AA449B112A}" destId="{8434861C-AF50-4090-9BC1-C99F3104FDE2}" srcOrd="1" destOrd="0" presId="urn:microsoft.com/office/officeart/2018/2/layout/IconCircleList"/>
    <dgm:cxn modelId="{BEFB81C6-882A-45EE-812B-7226A9B1951F}" type="presParOf" srcId="{7C6AAACB-F094-41A4-9160-F9AA449B112A}" destId="{E1B3C1E7-5F8F-4B4F-9F06-AAF4EF7B4079}" srcOrd="2" destOrd="0" presId="urn:microsoft.com/office/officeart/2018/2/layout/IconCircleList"/>
    <dgm:cxn modelId="{B09505D5-F7AC-4296-A06E-DBB7285EFDC6}" type="presParOf" srcId="{7C6AAACB-F094-41A4-9160-F9AA449B112A}" destId="{6584CC05-9065-4D32-9455-F683AE31898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924A4-9262-4C71-A739-1D92A40C2476}">
      <dsp:nvSpPr>
        <dsp:cNvPr id="0" name=""/>
        <dsp:cNvSpPr/>
      </dsp:nvSpPr>
      <dsp:spPr>
        <a:xfrm>
          <a:off x="0" y="176511"/>
          <a:ext cx="6253721" cy="153891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Brute Force: </a:t>
          </a:r>
          <a:r>
            <a:rPr lang="en-GB" sz="1500" kern="1200"/>
            <a:t>A brute force technique is an attempt to crack passwords using permutation and combination approach. This method takes a lot of time and memory consumption depending on the length and complexity of password.</a:t>
          </a:r>
          <a:endParaRPr lang="en-US" sz="1500" kern="1200"/>
        </a:p>
      </dsp:txBody>
      <dsp:txXfrm>
        <a:off x="75124" y="251635"/>
        <a:ext cx="6103473" cy="1388667"/>
      </dsp:txXfrm>
    </dsp:sp>
    <dsp:sp modelId="{3B1587D3-6B9B-46FB-9874-A4B583208E5F}">
      <dsp:nvSpPr>
        <dsp:cNvPr id="0" name=""/>
        <dsp:cNvSpPr/>
      </dsp:nvSpPr>
      <dsp:spPr>
        <a:xfrm>
          <a:off x="0" y="1758627"/>
          <a:ext cx="6253721" cy="1538915"/>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b="1" kern="1200"/>
            <a:t>Dictionary: </a:t>
          </a:r>
          <a:r>
            <a:rPr lang="en-GB" sz="1500" kern="1200"/>
            <a:t>A dictionary technique is an attempt to store in-build passwords in a file known as dictionary. Instead of trying all combination of passwords, it creates a word-list of most common passwords and calculates the hash values while cracking the passwords. It will only able to crack the password if it is stored in dictionary file. This technique takes less time as compared to brute-force technique to crack the password.</a:t>
          </a:r>
          <a:endParaRPr lang="en-US" sz="1500" kern="1200"/>
        </a:p>
      </dsp:txBody>
      <dsp:txXfrm>
        <a:off x="75124" y="1833751"/>
        <a:ext cx="6103473" cy="1388667"/>
      </dsp:txXfrm>
    </dsp:sp>
    <dsp:sp modelId="{B3410765-8B3B-4CED-A75B-160E8CED8D4F}">
      <dsp:nvSpPr>
        <dsp:cNvPr id="0" name=""/>
        <dsp:cNvSpPr/>
      </dsp:nvSpPr>
      <dsp:spPr>
        <a:xfrm>
          <a:off x="0" y="3340742"/>
          <a:ext cx="6253721" cy="1538915"/>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b="1" kern="1200"/>
            <a:t>Rainbow Tables: </a:t>
          </a:r>
          <a:r>
            <a:rPr lang="en-GB" sz="1500" kern="1200"/>
            <a:t>This technique is same as dictionary, but instead of calculating hash vales during password cracking; it stores the in-built hash values of password in the tables. Thus, this technique takes less time as compared to brute-force and dictionary technique to crack the password.</a:t>
          </a:r>
          <a:endParaRPr lang="en-US" sz="1500" kern="1200"/>
        </a:p>
      </dsp:txBody>
      <dsp:txXfrm>
        <a:off x="75124" y="3415866"/>
        <a:ext cx="6103473" cy="13886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AFD333-7A5E-4400-B5B3-E77553211C9D}">
      <dsp:nvSpPr>
        <dsp:cNvPr id="0" name=""/>
        <dsp:cNvSpPr/>
      </dsp:nvSpPr>
      <dsp:spPr>
        <a:xfrm>
          <a:off x="833097" y="58"/>
          <a:ext cx="2920318" cy="175219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Step 1: </a:t>
          </a:r>
          <a:r>
            <a:rPr lang="en-US" sz="1600" kern="1200" dirty="0"/>
            <a:t>Open Run box by clicking “Window + R” on keyboard and type “regedit” as shown in the screenshot, respectively. Click “OK” to proceed.</a:t>
          </a:r>
        </a:p>
      </dsp:txBody>
      <dsp:txXfrm>
        <a:off x="833097" y="58"/>
        <a:ext cx="2920318" cy="1752191"/>
      </dsp:txXfrm>
    </dsp:sp>
    <dsp:sp modelId="{B45F82F4-4D24-4DAE-AD76-C995481F92DB}">
      <dsp:nvSpPr>
        <dsp:cNvPr id="0" name=""/>
        <dsp:cNvSpPr/>
      </dsp:nvSpPr>
      <dsp:spPr>
        <a:xfrm>
          <a:off x="833097" y="2044281"/>
          <a:ext cx="2920318" cy="175219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Step 2: </a:t>
          </a:r>
          <a:r>
            <a:rPr lang="en-US" sz="1600" kern="1200" dirty="0"/>
            <a:t>A Registry Editor file with SAM and SYSTEM folder will open as shown. The SAM and SYSTEM files are in “</a:t>
          </a:r>
          <a:r>
            <a:rPr lang="en-US" sz="1600" i="1" kern="1200" dirty="0"/>
            <a:t>C:\Windows\System32\config</a:t>
          </a:r>
          <a:r>
            <a:rPr lang="en-US" sz="1600" kern="1200" dirty="0"/>
            <a:t>”.</a:t>
          </a:r>
        </a:p>
      </dsp:txBody>
      <dsp:txXfrm>
        <a:off x="833097" y="2044281"/>
        <a:ext cx="2920318" cy="17521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6B227C-7945-4383-85D9-7DB13F03DFF8}">
      <dsp:nvSpPr>
        <dsp:cNvPr id="0" name=""/>
        <dsp:cNvSpPr/>
      </dsp:nvSpPr>
      <dsp:spPr>
        <a:xfrm>
          <a:off x="0" y="306519"/>
          <a:ext cx="10827271" cy="6926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r>
            <a:rPr lang="en-US" sz="1600" b="1" kern="1200"/>
            <a:t>Step 3: </a:t>
          </a:r>
          <a:r>
            <a:rPr lang="en-GB" sz="1600" kern="1200"/>
            <a:t>These SAM and SYSTEM files can be accessed by registry editor after giving administrative permissions. Right click on the SAM file as shown below. Then allow “Full Control” and “Read” by clicking the check box. Do the same for SYSTEM.</a:t>
          </a:r>
          <a:endParaRPr lang="en-US" sz="1600" kern="1200"/>
        </a:p>
      </dsp:txBody>
      <dsp:txXfrm>
        <a:off x="33812" y="340331"/>
        <a:ext cx="10759647" cy="625015"/>
      </dsp:txXfrm>
    </dsp:sp>
    <dsp:sp modelId="{F869C588-E077-4DF3-8FC7-DF992EFE3B02}">
      <dsp:nvSpPr>
        <dsp:cNvPr id="0" name=""/>
        <dsp:cNvSpPr/>
      </dsp:nvSpPr>
      <dsp:spPr>
        <a:xfrm>
          <a:off x="0" y="1045239"/>
          <a:ext cx="10827271" cy="6926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r>
            <a:rPr lang="en-GB" sz="1600" b="1" kern="1200" dirty="0"/>
            <a:t>Step 4: </a:t>
          </a:r>
          <a:r>
            <a:rPr lang="en-GB" sz="1600" kern="1200" dirty="0"/>
            <a:t>Export the SAM file after giving the administrative permissions. Right click on the SAM file and click “Export”. Save the file by giving file name as “SAM” and type as “Registry Hive Files” as shown below.</a:t>
          </a:r>
          <a:endParaRPr lang="en-US" sz="1600" kern="1200" dirty="0"/>
        </a:p>
      </dsp:txBody>
      <dsp:txXfrm>
        <a:off x="33812" y="1079051"/>
        <a:ext cx="10759647" cy="6250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B9689-4731-435D-A0A8-695F6C83BBA5}">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2AC0DF-CB9D-41F8-9CA2-D66D234FA8BF}">
      <dsp:nvSpPr>
        <dsp:cNvPr id="0" name=""/>
        <dsp:cNvSpPr/>
      </dsp:nvSpPr>
      <dsp:spPr>
        <a:xfrm>
          <a:off x="570337"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774D65-B214-404F-A5BC-7C383FC08C7E}">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Different Password: </a:t>
          </a:r>
          <a:r>
            <a:rPr lang="en-GB" sz="1300" kern="1200" dirty="0"/>
            <a:t>Use different passwords for different device or websites.</a:t>
          </a:r>
          <a:endParaRPr lang="en-US" sz="1300" kern="1200" dirty="0"/>
        </a:p>
      </dsp:txBody>
      <dsp:txXfrm>
        <a:off x="1948202" y="368029"/>
        <a:ext cx="3233964" cy="1371985"/>
      </dsp:txXfrm>
    </dsp:sp>
    <dsp:sp modelId="{B0A3E828-8262-410F-905B-B87F63BAAA15}">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893F1-AF66-4293-9E59-E08037C05250}">
      <dsp:nvSpPr>
        <dsp:cNvPr id="0" name=""/>
        <dsp:cNvSpPr/>
      </dsp:nvSpPr>
      <dsp:spPr>
        <a:xfrm>
          <a:off x="6033778"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F0BE26-FE1C-4CF6-B76E-3049B7A97FE4}">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Sharing Password:</a:t>
          </a:r>
          <a:r>
            <a:rPr lang="en-GB" sz="1300" kern="1200" dirty="0"/>
            <a:t>Do not share passwords with anyone or change password immediately after usage, if shared.</a:t>
          </a:r>
          <a:endParaRPr lang="en-US" sz="1300" kern="1200" dirty="0"/>
        </a:p>
      </dsp:txBody>
      <dsp:txXfrm>
        <a:off x="7411643" y="368029"/>
        <a:ext cx="3233964" cy="1371985"/>
      </dsp:txXfrm>
    </dsp:sp>
    <dsp:sp modelId="{4C7D3456-1ECF-4758-AD70-1830226532F4}">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F66818-A6B8-404C-A2C5-86CE34CB6437}">
      <dsp:nvSpPr>
        <dsp:cNvPr id="0" name=""/>
        <dsp:cNvSpPr/>
      </dsp:nvSpPr>
      <dsp:spPr>
        <a:xfrm>
          <a:off x="570337" y="2740907"/>
          <a:ext cx="795751" cy="795751"/>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BB2A56-E983-491D-A52B-D2419B73E84A}">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Storing Password: </a:t>
          </a:r>
          <a:r>
            <a:rPr lang="en-GB" sz="1300" kern="1200" dirty="0"/>
            <a:t>Avoid storing passwords in an unsecured location such as desktop or mobile phones. An attacker can access those passwords by hacking the device. Try to remember the passwords. And consider using </a:t>
          </a:r>
          <a:r>
            <a:rPr lang="en-GB" sz="1300" kern="1200"/>
            <a:t>password manager. </a:t>
          </a:r>
          <a:endParaRPr lang="en-US" sz="1300" kern="1200" dirty="0"/>
        </a:p>
      </dsp:txBody>
      <dsp:txXfrm>
        <a:off x="1948202" y="2452790"/>
        <a:ext cx="3233964" cy="1371985"/>
      </dsp:txXfrm>
    </dsp:sp>
    <dsp:sp modelId="{A1707FCD-F031-41CA-9A5E-896D673D4F29}">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34861C-AF50-4090-9BC1-C99F3104FDE2}">
      <dsp:nvSpPr>
        <dsp:cNvPr id="0" name=""/>
        <dsp:cNvSpPr/>
      </dsp:nvSpPr>
      <dsp:spPr>
        <a:xfrm>
          <a:off x="6033778"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84CC05-9065-4D32-9455-F683AE318987}">
      <dsp:nvSpPr>
        <dsp:cNvPr id="0" name=""/>
        <dsp:cNvSpPr/>
      </dsp:nvSpPr>
      <dsp:spPr>
        <a:xfrm>
          <a:off x="7411643" y="2452790"/>
          <a:ext cx="3233964" cy="1371985"/>
        </a:xfrm>
        <a:prstGeom prst="rect">
          <a:avLst/>
        </a:prstGeom>
        <a:blipFill rotWithShape="0">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Personal Information: </a:t>
          </a:r>
          <a:r>
            <a:rPr lang="en-GB" sz="1300" kern="1200" dirty="0"/>
            <a:t>Do not use personal information such as date of birth, pet names, vehicle number, etc. An attacker can easily guess the password by knowing personal details through social engineering.</a:t>
          </a:r>
          <a:endParaRPr lang="en-US" sz="1300" kern="1200" dirty="0"/>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4CE4-F439-8A2C-08F6-BC9069780E9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DADD334-146B-E78D-49E0-ADFAD4570B8F}"/>
              </a:ext>
            </a:extLst>
          </p:cNvPr>
          <p:cNvSpPr>
            <a:spLocks noGrp="1"/>
          </p:cNvSpPr>
          <p:nvPr>
            <p:ph type="dt" sz="half" idx="10"/>
          </p:nvPr>
        </p:nvSpPr>
        <p:spPr/>
        <p:txBody>
          <a:bodyPr/>
          <a:lstStyle/>
          <a:p>
            <a:fld id="{26C42AFE-5C37-4C00-A6D8-E189E2B5BBC3}" type="datetimeFigureOut">
              <a:rPr lang="en-GB" smtClean="0"/>
              <a:t>28/06/2026</a:t>
            </a:fld>
            <a:endParaRPr lang="en-GB"/>
          </a:p>
        </p:txBody>
      </p:sp>
      <p:sp>
        <p:nvSpPr>
          <p:cNvPr id="4" name="Footer Placeholder 3">
            <a:extLst>
              <a:ext uri="{FF2B5EF4-FFF2-40B4-BE49-F238E27FC236}">
                <a16:creationId xmlns:a16="http://schemas.microsoft.com/office/drawing/2014/main" id="{5A0F464C-BF92-D5EE-A69C-551C866CD14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4E44C2E-7DBE-BB6C-4080-4E8B9E8D063E}"/>
              </a:ext>
            </a:extLst>
          </p:cNvPr>
          <p:cNvSpPr>
            <a:spLocks noGrp="1"/>
          </p:cNvSpPr>
          <p:nvPr>
            <p:ph type="sldNum" sz="quarter" idx="12"/>
          </p:nvPr>
        </p:nvSpPr>
        <p:spPr/>
        <p:txBody>
          <a:bodyPr/>
          <a:lstStyle/>
          <a:p>
            <a:fld id="{91F12AB6-BD85-488B-8458-09B1458E7D60}" type="slidenum">
              <a:rPr lang="en-GB" smtClean="0"/>
              <a:t>‹#›</a:t>
            </a:fld>
            <a:endParaRPr lang="en-GB"/>
          </a:p>
        </p:txBody>
      </p:sp>
    </p:spTree>
    <p:extLst>
      <p:ext uri="{BB962C8B-B14F-4D97-AF65-F5344CB8AC3E}">
        <p14:creationId xmlns:p14="http://schemas.microsoft.com/office/powerpoint/2010/main" val="8019668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8E85F-15BB-2660-AE7D-5755014CC8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22E67AE-18B9-4AE8-A3CD-829EC0F95B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55043B-D79B-44D7-D152-9272E0C9EF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42AFE-5C37-4C00-A6D8-E189E2B5BBC3}" type="datetimeFigureOut">
              <a:rPr lang="en-GB" smtClean="0"/>
              <a:t>28/06/2026</a:t>
            </a:fld>
            <a:endParaRPr lang="en-GB"/>
          </a:p>
        </p:txBody>
      </p:sp>
      <p:sp>
        <p:nvSpPr>
          <p:cNvPr id="5" name="Footer Placeholder 4">
            <a:extLst>
              <a:ext uri="{FF2B5EF4-FFF2-40B4-BE49-F238E27FC236}">
                <a16:creationId xmlns:a16="http://schemas.microsoft.com/office/drawing/2014/main" id="{A8265BB6-7C4B-85BE-0704-834CFDD86D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43D5C0A-7313-18D2-DED5-D33BADD0E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F12AB6-BD85-488B-8458-09B1458E7D60}" type="slidenum">
              <a:rPr lang="en-GB" smtClean="0"/>
              <a:t>‹#›</a:t>
            </a:fld>
            <a:endParaRPr lang="en-GB"/>
          </a:p>
        </p:txBody>
      </p:sp>
    </p:spTree>
    <p:extLst>
      <p:ext uri="{BB962C8B-B14F-4D97-AF65-F5344CB8AC3E}">
        <p14:creationId xmlns:p14="http://schemas.microsoft.com/office/powerpoint/2010/main" val="1218306119"/>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6.png"/><Relationship Id="rId7" Type="http://schemas.openxmlformats.org/officeDocument/2006/relationships/diagramQuickStyle" Target="../diagrams/quickStyle2.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png"/><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2B475416-2BB7-0BC2-B30E-9F49042E578B}"/>
              </a:ext>
            </a:extLst>
          </p:cNvPr>
          <p:cNvSpPr>
            <a:spLocks noGrp="1"/>
          </p:cNvSpPr>
          <p:nvPr>
            <p:ph type="title"/>
          </p:nvPr>
        </p:nvSpPr>
        <p:spPr/>
        <p:txBody>
          <a:bodyPr/>
          <a:lstStyle/>
          <a:p>
            <a:r>
              <a:rPr lang="en-US" sz="3200" b="1"/>
              <a:t>CRACKING WINDOWS PASSWORD</a:t>
            </a:r>
            <a:endParaRPr lang="en-US" sz="3200" b="1" dirty="0"/>
          </a:p>
        </p:txBody>
      </p:sp>
      <p:pic>
        <p:nvPicPr>
          <p:cNvPr id="3" name="Picture 2">
            <a:extLst>
              <a:ext uri="{FF2B5EF4-FFF2-40B4-BE49-F238E27FC236}">
                <a16:creationId xmlns:a16="http://schemas.microsoft.com/office/drawing/2014/main" id="{0B60A859-AAA2-7CED-46F4-F2BF2A790AB9}"/>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894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EDBA19E-0336-8BE7-44CC-DEB4503476FB}"/>
              </a:ext>
            </a:extLst>
          </p:cNvPr>
          <p:cNvPicPr/>
          <p:nvPr/>
        </p:nvPicPr>
        <p:blipFill>
          <a:blip r:embed="rId2"/>
          <a:srcRect t="2497" r="1" b="18702"/>
          <a:stretch>
            <a:fillRect/>
          </a:stretch>
        </p:blipFill>
        <p:spPr>
          <a:xfrm>
            <a:off x="1139319" y="1675227"/>
            <a:ext cx="9913362" cy="4394199"/>
          </a:xfrm>
          <a:prstGeom prst="rect">
            <a:avLst/>
          </a:prstGeom>
        </p:spPr>
      </p:pic>
      <p:sp>
        <p:nvSpPr>
          <p:cNvPr id="2" name="Title 1" hidden="1">
            <a:extLst>
              <a:ext uri="{FF2B5EF4-FFF2-40B4-BE49-F238E27FC236}">
                <a16:creationId xmlns:a16="http://schemas.microsoft.com/office/drawing/2014/main" id="{E1D2704B-B1D3-B22A-23DB-397FB40291B5}"/>
              </a:ext>
            </a:extLst>
          </p:cNvPr>
          <p:cNvSpPr>
            <a:spLocks noGrp="1"/>
          </p:cNvSpPr>
          <p:nvPr>
            <p:ph type="title"/>
          </p:nvPr>
        </p:nvSpPr>
        <p:spPr/>
        <p:txBody>
          <a:bodyPr/>
          <a:lstStyle/>
          <a:p>
            <a:r>
              <a:rPr lang="en-US"/>
              <a:t>Disclaimer</a:t>
            </a:r>
            <a:endParaRPr lang="en-GB" dirty="0"/>
          </a:p>
        </p:txBody>
      </p:sp>
    </p:spTree>
    <p:extLst>
      <p:ext uri="{BB962C8B-B14F-4D97-AF65-F5344CB8AC3E}">
        <p14:creationId xmlns:p14="http://schemas.microsoft.com/office/powerpoint/2010/main" val="85728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547766-CD4D-D2B5-BA0F-CD34669CA962}"/>
              </a:ext>
            </a:extLst>
          </p:cNvPr>
          <p:cNvPicPr/>
          <p:nvPr/>
        </p:nvPicPr>
        <p:blipFill>
          <a:blip r:embed="rId2"/>
          <a:srcRect l="1"/>
          <a:stretch>
            <a:fillRect/>
          </a:stretch>
        </p:blipFill>
        <p:spPr>
          <a:xfrm>
            <a:off x="20" y="-22"/>
            <a:ext cx="12191977" cy="6858022"/>
          </a:xfrm>
          <a:prstGeom prst="rect">
            <a:avLst/>
          </a:prstGeom>
        </p:spPr>
      </p:pic>
      <p:sp>
        <p:nvSpPr>
          <p:cNvPr id="28" name="Rectangle 27">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a:extLst>
              <a:ext uri="{FF2B5EF4-FFF2-40B4-BE49-F238E27FC236}">
                <a16:creationId xmlns:a16="http://schemas.microsoft.com/office/drawing/2014/main" id="{B70E3353-85CC-37ED-D0AC-57244D8C17F1}"/>
              </a:ext>
            </a:extLst>
          </p:cNvPr>
          <p:cNvSpPr>
            <a:spLocks noGrp="1"/>
          </p:cNvSpPr>
          <p:nvPr>
            <p:ph type="title"/>
          </p:nvPr>
        </p:nvSpPr>
        <p:spPr/>
        <p:txBody>
          <a:bodyPr/>
          <a:lstStyle/>
          <a:p>
            <a:r>
              <a:rPr lang="en-US"/>
              <a:t>Introduction</a:t>
            </a:r>
            <a:endParaRPr lang="en-GB" dirty="0"/>
          </a:p>
        </p:txBody>
      </p:sp>
    </p:spTree>
    <p:extLst>
      <p:ext uri="{BB962C8B-B14F-4D97-AF65-F5344CB8AC3E}">
        <p14:creationId xmlns:p14="http://schemas.microsoft.com/office/powerpoint/2010/main" val="2666166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53" name="Straight Connector 52">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75" name="Oval 74">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9" name="Straight Connector 68">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74" name="Rectangle 73">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7" name="Straight Connector 76">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5235A4F-3171-5AE1-63C3-D8D6AC2F3E8F}"/>
              </a:ext>
            </a:extLst>
          </p:cNvPr>
          <p:cNvSpPr>
            <a:spLocks noGrp="1"/>
          </p:cNvSpPr>
          <p:nvPr>
            <p:ph type="title"/>
          </p:nvPr>
        </p:nvSpPr>
        <p:spPr>
          <a:xfrm>
            <a:off x="630936" y="495992"/>
            <a:ext cx="4195140" cy="5638831"/>
          </a:xfrm>
          <a:noFill/>
        </p:spPr>
        <p:txBody>
          <a:bodyPr vert="horz" lIns="91440" tIns="45720" rIns="91440" bIns="45720" rtlCol="0" anchor="ctr">
            <a:normAutofit/>
          </a:bodyPr>
          <a:lstStyle/>
          <a:p>
            <a:r>
              <a:rPr lang="en-US" sz="4800" kern="1200">
                <a:solidFill>
                  <a:schemeClr val="tx1"/>
                </a:solidFill>
                <a:latin typeface="+mj-lt"/>
                <a:ea typeface="+mj-ea"/>
                <a:cs typeface="+mj-cs"/>
              </a:rPr>
              <a:t>Password Cracking Techniques</a:t>
            </a:r>
          </a:p>
        </p:txBody>
      </p:sp>
      <p:graphicFrame>
        <p:nvGraphicFramePr>
          <p:cNvPr id="81" name="TextBox 3">
            <a:extLst>
              <a:ext uri="{FF2B5EF4-FFF2-40B4-BE49-F238E27FC236}">
                <a16:creationId xmlns:a16="http://schemas.microsoft.com/office/drawing/2014/main" id="{285FC25E-65C9-0B69-767B-FD6F72CA0853}"/>
              </a:ext>
            </a:extLst>
          </p:cNvPr>
          <p:cNvGraphicFramePr/>
          <p:nvPr>
            <p:extLst>
              <p:ext uri="{D42A27DB-BD31-4B8C-83A1-F6EECF244321}">
                <p14:modId xmlns:p14="http://schemas.microsoft.com/office/powerpoint/2010/main" val="323213419"/>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895470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72A0AC-3DCE-4672-BCAF-28FEF91F6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6F1C77-EDC9-4C5F-8C1C-62DD46BD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58FDCCD-EC78-5BC9-FF31-AB3B889043E7}"/>
              </a:ext>
            </a:extLst>
          </p:cNvPr>
          <p:cNvPicPr>
            <a:picLocks noChangeAspect="1"/>
          </p:cNvPicPr>
          <p:nvPr/>
        </p:nvPicPr>
        <p:blipFill>
          <a:blip r:embed="rId2">
            <a:alphaModFix amt="40000"/>
          </a:blip>
          <a:srcRect t="7524" b="11319"/>
          <a:stretch>
            <a:fillRect/>
          </a:stretch>
        </p:blipFill>
        <p:spPr>
          <a:xfrm>
            <a:off x="20" y="10"/>
            <a:ext cx="8450297" cy="6857990"/>
          </a:xfrm>
          <a:prstGeom prst="rect">
            <a:avLst/>
          </a:prstGeom>
        </p:spPr>
      </p:pic>
      <p:sp>
        <p:nvSpPr>
          <p:cNvPr id="2" name="Title 1">
            <a:extLst>
              <a:ext uri="{FF2B5EF4-FFF2-40B4-BE49-F238E27FC236}">
                <a16:creationId xmlns:a16="http://schemas.microsoft.com/office/drawing/2014/main" id="{E95B1139-F671-45C5-3F37-D3F6442E82E3}"/>
              </a:ext>
            </a:extLst>
          </p:cNvPr>
          <p:cNvSpPr>
            <a:spLocks noGrp="1"/>
          </p:cNvSpPr>
          <p:nvPr>
            <p:ph type="title"/>
          </p:nvPr>
        </p:nvSpPr>
        <p:spPr>
          <a:xfrm>
            <a:off x="838201" y="365125"/>
            <a:ext cx="5251316" cy="1627636"/>
          </a:xfrm>
        </p:spPr>
        <p:txBody>
          <a:bodyPr vert="horz" lIns="91440" tIns="45720" rIns="91440" bIns="45720" rtlCol="0" anchor="ctr">
            <a:normAutofit/>
          </a:bodyPr>
          <a:lstStyle/>
          <a:p>
            <a:r>
              <a:rPr lang="en-US" b="1" kern="1200">
                <a:solidFill>
                  <a:srgbClr val="FFFFFF"/>
                </a:solidFill>
                <a:latin typeface="+mj-lt"/>
                <a:ea typeface="+mj-ea"/>
                <a:cs typeface="+mj-cs"/>
              </a:rPr>
              <a:t>Mimikatz</a:t>
            </a:r>
          </a:p>
        </p:txBody>
      </p:sp>
      <p:sp>
        <p:nvSpPr>
          <p:cNvPr id="3" name="TextBox 2">
            <a:extLst>
              <a:ext uri="{FF2B5EF4-FFF2-40B4-BE49-F238E27FC236}">
                <a16:creationId xmlns:a16="http://schemas.microsoft.com/office/drawing/2014/main" id="{BC83DABA-7A87-467A-F520-3A4EF4945841}"/>
              </a:ext>
            </a:extLst>
          </p:cNvPr>
          <p:cNvSpPr txBox="1"/>
          <p:nvPr/>
        </p:nvSpPr>
        <p:spPr>
          <a:xfrm>
            <a:off x="838200" y="2219785"/>
            <a:ext cx="4619621" cy="395717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900" b="1">
                <a:solidFill>
                  <a:srgbClr val="FFFFFF"/>
                </a:solidFill>
              </a:rPr>
              <a:t>Mimikatz</a:t>
            </a:r>
            <a:r>
              <a:rPr lang="en-US" sz="1900">
                <a:solidFill>
                  <a:srgbClr val="FFFFFF"/>
                </a:solidFill>
              </a:rPr>
              <a:t> was first developed in 2007 by Benjamin Delpy. It is an open-source application and post exploitation Windows operating system tool that allows users to view authentication credentials.</a:t>
            </a:r>
          </a:p>
          <a:p>
            <a:pPr marL="285750" indent="-228600">
              <a:lnSpc>
                <a:spcPct val="90000"/>
              </a:lnSpc>
              <a:spcAft>
                <a:spcPts val="600"/>
              </a:spcAft>
              <a:buFont typeface="Arial" panose="020B0604020202020204" pitchFamily="34" charset="0"/>
              <a:buChar char="•"/>
            </a:pPr>
            <a:r>
              <a:rPr lang="en-US" sz="1900">
                <a:solidFill>
                  <a:srgbClr val="FFFFFF"/>
                </a:solidFill>
              </a:rPr>
              <a:t>This tool provides hashes from </a:t>
            </a:r>
            <a:r>
              <a:rPr lang="en-US" sz="1900" b="1">
                <a:solidFill>
                  <a:srgbClr val="FFFFFF"/>
                </a:solidFill>
              </a:rPr>
              <a:t>SAM</a:t>
            </a:r>
            <a:r>
              <a:rPr lang="en-US" sz="1900">
                <a:solidFill>
                  <a:srgbClr val="FFFFFF"/>
                </a:solidFill>
              </a:rPr>
              <a:t> file of Windows operating system to users.</a:t>
            </a:r>
          </a:p>
          <a:p>
            <a:pPr marL="285750" indent="-228600">
              <a:lnSpc>
                <a:spcPct val="90000"/>
              </a:lnSpc>
              <a:spcAft>
                <a:spcPts val="600"/>
              </a:spcAft>
              <a:buFont typeface="Arial" panose="020B0604020202020204" pitchFamily="34" charset="0"/>
              <a:buChar char="•"/>
            </a:pPr>
            <a:r>
              <a:rPr lang="en-US" sz="1900">
                <a:solidFill>
                  <a:srgbClr val="FFFFFF"/>
                </a:solidFill>
              </a:rPr>
              <a:t>Windows store password data in an </a:t>
            </a:r>
            <a:r>
              <a:rPr lang="en-US" sz="1900" b="1">
                <a:solidFill>
                  <a:srgbClr val="FFFFFF"/>
                </a:solidFill>
              </a:rPr>
              <a:t>NTLM</a:t>
            </a:r>
            <a:r>
              <a:rPr lang="en-US" sz="1900">
                <a:solidFill>
                  <a:srgbClr val="FFFFFF"/>
                </a:solidFill>
              </a:rPr>
              <a:t> hash. The forensics team can use Mimikatz tool to get the hash string and use </a:t>
            </a:r>
            <a:r>
              <a:rPr lang="en-US" sz="1900" b="1">
                <a:solidFill>
                  <a:srgbClr val="FFFFFF"/>
                </a:solidFill>
              </a:rPr>
              <a:t>hashcat</a:t>
            </a:r>
            <a:r>
              <a:rPr lang="en-US" sz="1900">
                <a:solidFill>
                  <a:srgbClr val="FFFFFF"/>
                </a:solidFill>
              </a:rPr>
              <a:t> tool to get plain text and pass it to the target computer to login.</a:t>
            </a:r>
          </a:p>
        </p:txBody>
      </p:sp>
      <p:pic>
        <p:nvPicPr>
          <p:cNvPr id="5" name="Picture 4">
            <a:extLst>
              <a:ext uri="{FF2B5EF4-FFF2-40B4-BE49-F238E27FC236}">
                <a16:creationId xmlns:a16="http://schemas.microsoft.com/office/drawing/2014/main" id="{3CABE8D5-7D38-9490-82E4-65009C307C02}"/>
              </a:ext>
            </a:extLst>
          </p:cNvPr>
          <p:cNvPicPr>
            <a:picLocks noChangeAspect="1"/>
          </p:cNvPicPr>
          <p:nvPr/>
        </p:nvPicPr>
        <p:blipFill>
          <a:blip r:embed="rId2"/>
          <a:srcRect l="6299" r="6752" b="-2"/>
          <a:stretch>
            <a:fillRect/>
          </a:stretch>
        </p:blipFill>
        <p:spPr>
          <a:xfrm>
            <a:off x="6225997"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856082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B0AED24-A4D8-C922-7612-8242063FF391}"/>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b="1" kern="1200">
                <a:solidFill>
                  <a:schemeClr val="bg1"/>
                </a:solidFill>
                <a:latin typeface="+mj-lt"/>
                <a:ea typeface="+mj-ea"/>
                <a:cs typeface="+mj-cs"/>
              </a:rPr>
              <a:t>Getting Password Hash using Mimikatz</a:t>
            </a:r>
          </a:p>
        </p:txBody>
      </p:sp>
      <p:cxnSp>
        <p:nvCxnSpPr>
          <p:cNvPr id="50" name="Straight Connector 4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864BB9E-FC6D-FCDE-88D8-29934205B5B9}"/>
              </a:ext>
            </a:extLst>
          </p:cNvPr>
          <p:cNvGrpSpPr/>
          <p:nvPr/>
        </p:nvGrpSpPr>
        <p:grpSpPr>
          <a:xfrm>
            <a:off x="4736893" y="1867171"/>
            <a:ext cx="7393520" cy="3723087"/>
            <a:chOff x="946730" y="2816711"/>
            <a:chExt cx="10749283" cy="3286584"/>
          </a:xfrm>
        </p:grpSpPr>
        <p:grpSp>
          <p:nvGrpSpPr>
            <p:cNvPr id="8" name="Group 7">
              <a:extLst>
                <a:ext uri="{FF2B5EF4-FFF2-40B4-BE49-F238E27FC236}">
                  <a16:creationId xmlns:a16="http://schemas.microsoft.com/office/drawing/2014/main" id="{B790430D-6691-E23F-4BDC-EAF2B2A8C608}"/>
                </a:ext>
              </a:extLst>
            </p:cNvPr>
            <p:cNvGrpSpPr/>
            <p:nvPr/>
          </p:nvGrpSpPr>
          <p:grpSpPr>
            <a:xfrm>
              <a:off x="946730" y="2816711"/>
              <a:ext cx="8197270" cy="3286584"/>
              <a:chOff x="1342362" y="3206291"/>
              <a:chExt cx="8197270" cy="3286584"/>
            </a:xfrm>
          </p:grpSpPr>
          <p:pic>
            <p:nvPicPr>
              <p:cNvPr id="5" name="Picture 4">
                <a:extLst>
                  <a:ext uri="{FF2B5EF4-FFF2-40B4-BE49-F238E27FC236}">
                    <a16:creationId xmlns:a16="http://schemas.microsoft.com/office/drawing/2014/main" id="{46FF22FF-9AE7-E8CE-1D8E-249F83104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362" y="3206291"/>
                <a:ext cx="4753638" cy="3286584"/>
              </a:xfrm>
              <a:prstGeom prst="rect">
                <a:avLst/>
              </a:prstGeom>
            </p:spPr>
          </p:pic>
          <p:pic>
            <p:nvPicPr>
              <p:cNvPr id="7" name="Picture 6">
                <a:extLst>
                  <a:ext uri="{FF2B5EF4-FFF2-40B4-BE49-F238E27FC236}">
                    <a16:creationId xmlns:a16="http://schemas.microsoft.com/office/drawing/2014/main" id="{668CD08C-0F29-A707-F571-44B8B4CA8903}"/>
                  </a:ext>
                </a:extLst>
              </p:cNvPr>
              <p:cNvPicPr>
                <a:picLocks noChangeAspect="1"/>
              </p:cNvPicPr>
              <p:nvPr/>
            </p:nvPicPr>
            <p:blipFill>
              <a:blip r:embed="rId3">
                <a:extLst>
                  <a:ext uri="{28A0092B-C50C-407E-A947-70E740481C1C}">
                    <a14:useLocalDpi xmlns:a14="http://schemas.microsoft.com/office/drawing/2010/main" val="0"/>
                  </a:ext>
                </a:extLst>
              </a:blip>
              <a:srcRect r="45063"/>
              <a:stretch>
                <a:fillRect/>
              </a:stretch>
            </p:blipFill>
            <p:spPr>
              <a:xfrm>
                <a:off x="6096000" y="3206291"/>
                <a:ext cx="3443632" cy="3286584"/>
              </a:xfrm>
              <a:prstGeom prst="rect">
                <a:avLst/>
              </a:prstGeom>
            </p:spPr>
          </p:pic>
        </p:grpSp>
        <p:pic>
          <p:nvPicPr>
            <p:cNvPr id="10" name="Picture 9">
              <a:extLst>
                <a:ext uri="{FF2B5EF4-FFF2-40B4-BE49-F238E27FC236}">
                  <a16:creationId xmlns:a16="http://schemas.microsoft.com/office/drawing/2014/main" id="{E7A17952-DF95-6444-7C2A-0984EE16C7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8939" y="2816711"/>
              <a:ext cx="3707074" cy="3286584"/>
            </a:xfrm>
            <a:prstGeom prst="rect">
              <a:avLst/>
            </a:prstGeom>
          </p:spPr>
        </p:pic>
      </p:grpSp>
      <p:graphicFrame>
        <p:nvGraphicFramePr>
          <p:cNvPr id="52" name="TextBox 2">
            <a:extLst>
              <a:ext uri="{FF2B5EF4-FFF2-40B4-BE49-F238E27FC236}">
                <a16:creationId xmlns:a16="http://schemas.microsoft.com/office/drawing/2014/main" id="{71991A4A-44E2-955B-5704-D84EC5D7FE89}"/>
              </a:ext>
            </a:extLst>
          </p:cNvPr>
          <p:cNvGraphicFramePr/>
          <p:nvPr>
            <p:extLst>
              <p:ext uri="{D42A27DB-BD31-4B8C-83A1-F6EECF244321}">
                <p14:modId xmlns:p14="http://schemas.microsoft.com/office/powerpoint/2010/main" val="2604928860"/>
              </p:ext>
            </p:extLst>
          </p:nvPr>
        </p:nvGraphicFramePr>
        <p:xfrm>
          <a:off x="897769" y="1674371"/>
          <a:ext cx="4586513" cy="37965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25759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640CF-3A34-341B-D1E5-A5A634BE848B}"/>
              </a:ext>
            </a:extLst>
          </p:cNvPr>
          <p:cNvSpPr>
            <a:spLocks noGrp="1"/>
          </p:cNvSpPr>
          <p:nvPr>
            <p:ph type="title"/>
          </p:nvPr>
        </p:nvSpPr>
        <p:spPr>
          <a:xfrm>
            <a:off x="526529" y="320155"/>
            <a:ext cx="11138941" cy="1325563"/>
          </a:xfrm>
        </p:spPr>
        <p:txBody>
          <a:bodyPr>
            <a:normAutofit/>
          </a:bodyPr>
          <a:lstStyle/>
          <a:p>
            <a:r>
              <a:rPr lang="en-US" sz="3600" b="1" dirty="0"/>
              <a:t>Getting Password Hash using </a:t>
            </a:r>
            <a:r>
              <a:rPr lang="en-US" sz="3600" b="1" dirty="0" err="1"/>
              <a:t>Mimikatz</a:t>
            </a:r>
            <a:r>
              <a:rPr lang="en-US" sz="3600" b="1" dirty="0"/>
              <a:t> Cont’d</a:t>
            </a:r>
            <a:endParaRPr lang="en-GB" sz="3600" b="1" dirty="0"/>
          </a:p>
        </p:txBody>
      </p:sp>
      <p:grpSp>
        <p:nvGrpSpPr>
          <p:cNvPr id="10" name="Group 9">
            <a:extLst>
              <a:ext uri="{FF2B5EF4-FFF2-40B4-BE49-F238E27FC236}">
                <a16:creationId xmlns:a16="http://schemas.microsoft.com/office/drawing/2014/main" id="{0E5FEAF8-69DE-828F-0BEF-11B0558B2129}"/>
              </a:ext>
            </a:extLst>
          </p:cNvPr>
          <p:cNvGrpSpPr/>
          <p:nvPr/>
        </p:nvGrpSpPr>
        <p:grpSpPr>
          <a:xfrm>
            <a:off x="2143592" y="2853869"/>
            <a:ext cx="8304549" cy="3264914"/>
            <a:chOff x="1993693" y="2903024"/>
            <a:chExt cx="8874174" cy="3914559"/>
          </a:xfrm>
        </p:grpSpPr>
        <p:pic>
          <p:nvPicPr>
            <p:cNvPr id="7" name="Picture 6">
              <a:extLst>
                <a:ext uri="{FF2B5EF4-FFF2-40B4-BE49-F238E27FC236}">
                  <a16:creationId xmlns:a16="http://schemas.microsoft.com/office/drawing/2014/main" id="{BC1DBC60-7C47-2C1C-0AB9-273160393B53}"/>
                </a:ext>
              </a:extLst>
            </p:cNvPr>
            <p:cNvPicPr>
              <a:picLocks noChangeAspect="1"/>
            </p:cNvPicPr>
            <p:nvPr/>
          </p:nvPicPr>
          <p:blipFill>
            <a:blip r:embed="rId2">
              <a:extLst>
                <a:ext uri="{28A0092B-C50C-407E-A947-70E740481C1C}">
                  <a14:useLocalDpi xmlns:a14="http://schemas.microsoft.com/office/drawing/2010/main" val="0"/>
                </a:ext>
              </a:extLst>
            </a:blip>
            <a:srcRect b="16636"/>
            <a:stretch>
              <a:fillRect/>
            </a:stretch>
          </p:blipFill>
          <p:spPr>
            <a:xfrm>
              <a:off x="1993693" y="2913988"/>
              <a:ext cx="4601980" cy="3903595"/>
            </a:xfrm>
            <a:prstGeom prst="rect">
              <a:avLst/>
            </a:prstGeom>
          </p:spPr>
        </p:pic>
        <p:pic>
          <p:nvPicPr>
            <p:cNvPr id="9" name="Picture 8">
              <a:extLst>
                <a:ext uri="{FF2B5EF4-FFF2-40B4-BE49-F238E27FC236}">
                  <a16:creationId xmlns:a16="http://schemas.microsoft.com/office/drawing/2014/main" id="{CF367916-442A-0EAD-9636-B02A41EEC68C}"/>
                </a:ext>
              </a:extLst>
            </p:cNvPr>
            <p:cNvPicPr>
              <a:picLocks noChangeAspect="1"/>
            </p:cNvPicPr>
            <p:nvPr/>
          </p:nvPicPr>
          <p:blipFill>
            <a:blip r:embed="rId3">
              <a:extLst>
                <a:ext uri="{28A0092B-C50C-407E-A947-70E740481C1C}">
                  <a14:useLocalDpi xmlns:a14="http://schemas.microsoft.com/office/drawing/2010/main" val="0"/>
                </a:ext>
              </a:extLst>
            </a:blip>
            <a:srcRect r="50464" b="20572"/>
            <a:stretch>
              <a:fillRect/>
            </a:stretch>
          </p:blipFill>
          <p:spPr>
            <a:xfrm>
              <a:off x="6595672" y="2903024"/>
              <a:ext cx="4272195" cy="3851372"/>
            </a:xfrm>
            <a:prstGeom prst="rect">
              <a:avLst/>
            </a:prstGeom>
          </p:spPr>
        </p:pic>
      </p:grpSp>
      <p:graphicFrame>
        <p:nvGraphicFramePr>
          <p:cNvPr id="14" name="TextBox 3">
            <a:extLst>
              <a:ext uri="{FF2B5EF4-FFF2-40B4-BE49-F238E27FC236}">
                <a16:creationId xmlns:a16="http://schemas.microsoft.com/office/drawing/2014/main" id="{A2316863-2E36-981D-B43C-B44DB520492A}"/>
              </a:ext>
            </a:extLst>
          </p:cNvPr>
          <p:cNvGraphicFramePr/>
          <p:nvPr>
            <p:extLst>
              <p:ext uri="{D42A27DB-BD31-4B8C-83A1-F6EECF244321}">
                <p14:modId xmlns:p14="http://schemas.microsoft.com/office/powerpoint/2010/main" val="4074400068"/>
              </p:ext>
            </p:extLst>
          </p:nvPr>
        </p:nvGraphicFramePr>
        <p:xfrm>
          <a:off x="838199" y="1049311"/>
          <a:ext cx="10827271" cy="20443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72176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99065-724D-7D47-4DCA-3AE12AE8E404}"/>
              </a:ext>
            </a:extLst>
          </p:cNvPr>
          <p:cNvSpPr>
            <a:spLocks noGrp="1"/>
          </p:cNvSpPr>
          <p:nvPr>
            <p:ph type="title"/>
          </p:nvPr>
        </p:nvSpPr>
        <p:spPr>
          <a:xfrm>
            <a:off x="838200" y="1641752"/>
            <a:ext cx="4391025" cy="1323439"/>
          </a:xfrm>
        </p:spPr>
        <p:txBody>
          <a:bodyPr vert="horz" lIns="91440" tIns="45720" rIns="91440" bIns="45720" rtlCol="0" anchor="t">
            <a:normAutofit/>
          </a:bodyPr>
          <a:lstStyle/>
          <a:p>
            <a:r>
              <a:rPr lang="en-US" sz="3100" b="1" kern="1200">
                <a:solidFill>
                  <a:schemeClr val="bg1"/>
                </a:solidFill>
                <a:latin typeface="+mj-lt"/>
                <a:ea typeface="+mj-ea"/>
                <a:cs typeface="+mj-cs"/>
              </a:rPr>
              <a:t>Getting Password Hash using Mimikatz Cont’d</a:t>
            </a:r>
          </a:p>
        </p:txBody>
      </p:sp>
      <p:sp>
        <p:nvSpPr>
          <p:cNvPr id="6" name="TextBox 5">
            <a:extLst>
              <a:ext uri="{FF2B5EF4-FFF2-40B4-BE49-F238E27FC236}">
                <a16:creationId xmlns:a16="http://schemas.microsoft.com/office/drawing/2014/main" id="{C5879A0A-DFAF-8474-4298-B47F7E00051F}"/>
              </a:ext>
            </a:extLst>
          </p:cNvPr>
          <p:cNvSpPr txBox="1"/>
          <p:nvPr/>
        </p:nvSpPr>
        <p:spPr>
          <a:xfrm>
            <a:off x="838200" y="3146400"/>
            <a:ext cx="4391025" cy="2454300"/>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700" b="1">
                <a:solidFill>
                  <a:schemeClr val="bg1">
                    <a:alpha val="80000"/>
                  </a:schemeClr>
                </a:solidFill>
              </a:rPr>
              <a:t>Step 5: </a:t>
            </a:r>
            <a:r>
              <a:rPr lang="en-US" sz="1700">
                <a:solidFill>
                  <a:schemeClr val="bg1">
                    <a:alpha val="80000"/>
                  </a:schemeClr>
                </a:solidFill>
              </a:rPr>
              <a:t>Save both SAM and SYSTEM file as “Registry Hive Files” as seen in the screenshot, on your desktop.</a:t>
            </a:r>
          </a:p>
          <a:p>
            <a:pPr marL="285750" indent="-228600">
              <a:lnSpc>
                <a:spcPct val="90000"/>
              </a:lnSpc>
              <a:spcAft>
                <a:spcPts val="600"/>
              </a:spcAft>
              <a:buFont typeface="Arial" panose="020B0604020202020204" pitchFamily="34" charset="0"/>
              <a:buChar char="•"/>
            </a:pPr>
            <a:r>
              <a:rPr lang="en-US" sz="1700" b="1">
                <a:solidFill>
                  <a:schemeClr val="bg1">
                    <a:alpha val="80000"/>
                  </a:schemeClr>
                </a:solidFill>
              </a:rPr>
              <a:t>Step 6: </a:t>
            </a:r>
            <a:r>
              <a:rPr lang="en-US" sz="1700">
                <a:solidFill>
                  <a:schemeClr val="bg1">
                    <a:alpha val="80000"/>
                  </a:schemeClr>
                </a:solidFill>
              </a:rPr>
              <a:t>Export the SYSTEM file after giving the administrative permissions. Right click on the SYSTEM file and click “Export”. Save the file by giving file name as “SYSTEM” and type as “Registry Hive Files” as shown below.</a:t>
            </a:r>
            <a:endParaRPr lang="en-US" sz="1700" b="1">
              <a:solidFill>
                <a:schemeClr val="bg1">
                  <a:alpha val="80000"/>
                </a:schemeClr>
              </a:solidFill>
            </a:endParaRPr>
          </a:p>
        </p:txBody>
      </p:sp>
      <p:pic>
        <p:nvPicPr>
          <p:cNvPr id="4" name="Picture 3">
            <a:extLst>
              <a:ext uri="{FF2B5EF4-FFF2-40B4-BE49-F238E27FC236}">
                <a16:creationId xmlns:a16="http://schemas.microsoft.com/office/drawing/2014/main" id="{850FF167-029C-A528-6BD2-852EE5E7A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1469503"/>
            <a:ext cx="5260976" cy="3879969"/>
          </a:xfrm>
          <a:prstGeom prst="rect">
            <a:avLst/>
          </a:prstGeom>
        </p:spPr>
      </p:pic>
    </p:spTree>
    <p:extLst>
      <p:ext uri="{BB962C8B-B14F-4D97-AF65-F5344CB8AC3E}">
        <p14:creationId xmlns:p14="http://schemas.microsoft.com/office/powerpoint/2010/main" val="2431472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7C3B4-670B-900D-576E-55C83A7B1926}"/>
              </a:ext>
            </a:extLst>
          </p:cNvPr>
          <p:cNvSpPr>
            <a:spLocks noGrp="1"/>
          </p:cNvSpPr>
          <p:nvPr>
            <p:ph type="title"/>
          </p:nvPr>
        </p:nvSpPr>
        <p:spPr>
          <a:xfrm>
            <a:off x="838200" y="1641752"/>
            <a:ext cx="4391025" cy="1323439"/>
          </a:xfrm>
        </p:spPr>
        <p:txBody>
          <a:bodyPr vert="horz" lIns="91440" tIns="45720" rIns="91440" bIns="45720" rtlCol="0" anchor="t">
            <a:normAutofit/>
          </a:bodyPr>
          <a:lstStyle/>
          <a:p>
            <a:r>
              <a:rPr lang="en-US" sz="3100" b="1" kern="1200">
                <a:solidFill>
                  <a:schemeClr val="bg1"/>
                </a:solidFill>
                <a:latin typeface="+mj-lt"/>
                <a:ea typeface="+mj-ea"/>
                <a:cs typeface="+mj-cs"/>
              </a:rPr>
              <a:t>Getting Password Hash using Mimikatz Cont’d</a:t>
            </a:r>
          </a:p>
        </p:txBody>
      </p:sp>
      <p:sp>
        <p:nvSpPr>
          <p:cNvPr id="3" name="TextBox 2">
            <a:extLst>
              <a:ext uri="{FF2B5EF4-FFF2-40B4-BE49-F238E27FC236}">
                <a16:creationId xmlns:a16="http://schemas.microsoft.com/office/drawing/2014/main" id="{BD00930C-DAC6-8B45-5DD5-A9BE431B4855}"/>
              </a:ext>
            </a:extLst>
          </p:cNvPr>
          <p:cNvSpPr txBox="1"/>
          <p:nvPr/>
        </p:nvSpPr>
        <p:spPr>
          <a:xfrm>
            <a:off x="838200" y="3146400"/>
            <a:ext cx="4391025" cy="2454300"/>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500" b="1" dirty="0">
                <a:solidFill>
                  <a:schemeClr val="bg1">
                    <a:alpha val="80000"/>
                  </a:schemeClr>
                </a:solidFill>
              </a:rPr>
              <a:t>Step 7: </a:t>
            </a:r>
            <a:r>
              <a:rPr lang="en-US" sz="1500" dirty="0" err="1">
                <a:solidFill>
                  <a:schemeClr val="bg1">
                    <a:alpha val="80000"/>
                  </a:schemeClr>
                </a:solidFill>
              </a:rPr>
              <a:t>Mimikatz</a:t>
            </a:r>
            <a:r>
              <a:rPr lang="en-US" sz="1500" dirty="0">
                <a:solidFill>
                  <a:schemeClr val="bg1">
                    <a:alpha val="80000"/>
                  </a:schemeClr>
                </a:solidFill>
              </a:rPr>
              <a:t> is preinstalled on </a:t>
            </a:r>
            <a:r>
              <a:rPr lang="en-US" sz="1500" b="1" dirty="0">
                <a:solidFill>
                  <a:schemeClr val="bg1">
                    <a:alpha val="80000"/>
                  </a:schemeClr>
                </a:solidFill>
              </a:rPr>
              <a:t>Kali Linux 2026</a:t>
            </a:r>
            <a:r>
              <a:rPr lang="en-US" sz="1500" dirty="0">
                <a:solidFill>
                  <a:schemeClr val="bg1">
                    <a:alpha val="80000"/>
                  </a:schemeClr>
                </a:solidFill>
              </a:rPr>
              <a:t> in the following director: “/</a:t>
            </a:r>
            <a:r>
              <a:rPr lang="en-US" sz="1500" dirty="0" err="1">
                <a:solidFill>
                  <a:schemeClr val="bg1">
                    <a:alpha val="80000"/>
                  </a:schemeClr>
                </a:solidFill>
              </a:rPr>
              <a:t>usr</a:t>
            </a:r>
            <a:r>
              <a:rPr lang="en-US" sz="1500" dirty="0">
                <a:solidFill>
                  <a:schemeClr val="bg1">
                    <a:alpha val="80000"/>
                  </a:schemeClr>
                </a:solidFill>
              </a:rPr>
              <a:t>/share/windows-resources/</a:t>
            </a:r>
            <a:r>
              <a:rPr lang="en-US" sz="1500" dirty="0" err="1">
                <a:solidFill>
                  <a:schemeClr val="bg1">
                    <a:alpha val="80000"/>
                  </a:schemeClr>
                </a:solidFill>
              </a:rPr>
              <a:t>mimikatz</a:t>
            </a:r>
            <a:r>
              <a:rPr lang="en-US" sz="1500" dirty="0">
                <a:solidFill>
                  <a:schemeClr val="bg1">
                    <a:alpha val="80000"/>
                  </a:schemeClr>
                </a:solidFill>
              </a:rPr>
              <a:t>” so I started a python http server to downloads the </a:t>
            </a:r>
            <a:r>
              <a:rPr lang="en-US" sz="1500" dirty="0" err="1">
                <a:solidFill>
                  <a:schemeClr val="bg1">
                    <a:alpha val="80000"/>
                  </a:schemeClr>
                </a:solidFill>
              </a:rPr>
              <a:t>mimikatz</a:t>
            </a:r>
            <a:r>
              <a:rPr lang="en-US" sz="1500" dirty="0">
                <a:solidFill>
                  <a:schemeClr val="bg1">
                    <a:alpha val="80000"/>
                  </a:schemeClr>
                </a:solidFill>
              </a:rPr>
              <a:t> files as shown in the screen shots</a:t>
            </a:r>
          </a:p>
          <a:p>
            <a:pPr marL="285750" indent="-228600">
              <a:lnSpc>
                <a:spcPct val="90000"/>
              </a:lnSpc>
              <a:spcAft>
                <a:spcPts val="600"/>
              </a:spcAft>
              <a:buFont typeface="Arial" panose="020B0604020202020204" pitchFamily="34" charset="0"/>
              <a:buChar char="•"/>
            </a:pPr>
            <a:r>
              <a:rPr lang="en-US" sz="1500" b="1" dirty="0">
                <a:solidFill>
                  <a:schemeClr val="bg1">
                    <a:alpha val="80000"/>
                  </a:schemeClr>
                </a:solidFill>
              </a:rPr>
              <a:t>Step 8: </a:t>
            </a:r>
            <a:r>
              <a:rPr lang="en-US" sz="1500" dirty="0">
                <a:solidFill>
                  <a:schemeClr val="bg1">
                    <a:alpha val="80000"/>
                  </a:schemeClr>
                </a:solidFill>
              </a:rPr>
              <a:t>Download the files from kali to your windows machine in the same directory where you stored both SAM and SYSTEM files.</a:t>
            </a:r>
            <a:endParaRPr lang="en-US" sz="1500" b="1" dirty="0">
              <a:solidFill>
                <a:schemeClr val="bg1">
                  <a:alpha val="80000"/>
                </a:schemeClr>
              </a:solidFill>
            </a:endParaRPr>
          </a:p>
        </p:txBody>
      </p:sp>
      <p:grpSp>
        <p:nvGrpSpPr>
          <p:cNvPr id="4" name="Group 3">
            <a:extLst>
              <a:ext uri="{FF2B5EF4-FFF2-40B4-BE49-F238E27FC236}">
                <a16:creationId xmlns:a16="http://schemas.microsoft.com/office/drawing/2014/main" id="{76593867-D5A9-0388-20AB-346F357AA553}"/>
              </a:ext>
            </a:extLst>
          </p:cNvPr>
          <p:cNvGrpSpPr/>
          <p:nvPr/>
        </p:nvGrpSpPr>
        <p:grpSpPr>
          <a:xfrm>
            <a:off x="6095999" y="1714961"/>
            <a:ext cx="5260976" cy="3389058"/>
            <a:chOff x="6095999" y="2136338"/>
            <a:chExt cx="5811062" cy="3743414"/>
          </a:xfrm>
        </p:grpSpPr>
        <p:pic>
          <p:nvPicPr>
            <p:cNvPr id="5" name="Picture 4">
              <a:extLst>
                <a:ext uri="{FF2B5EF4-FFF2-40B4-BE49-F238E27FC236}">
                  <a16:creationId xmlns:a16="http://schemas.microsoft.com/office/drawing/2014/main" id="{D548FBBC-DFD0-692A-CEF5-7CABF1D18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36338"/>
              <a:ext cx="5811061" cy="590632"/>
            </a:xfrm>
            <a:prstGeom prst="rect">
              <a:avLst/>
            </a:prstGeom>
          </p:spPr>
        </p:pic>
        <p:pic>
          <p:nvPicPr>
            <p:cNvPr id="7" name="Picture 6">
              <a:extLst>
                <a:ext uri="{FF2B5EF4-FFF2-40B4-BE49-F238E27FC236}">
                  <a16:creationId xmlns:a16="http://schemas.microsoft.com/office/drawing/2014/main" id="{E42587A8-BCAF-21D7-F711-4C0ACF8712E6}"/>
                </a:ext>
              </a:extLst>
            </p:cNvPr>
            <p:cNvPicPr>
              <a:picLocks noChangeAspect="1"/>
            </p:cNvPicPr>
            <p:nvPr/>
          </p:nvPicPr>
          <p:blipFill>
            <a:blip r:embed="rId3">
              <a:extLst>
                <a:ext uri="{28A0092B-C50C-407E-A947-70E740481C1C}">
                  <a14:useLocalDpi xmlns:a14="http://schemas.microsoft.com/office/drawing/2010/main" val="0"/>
                </a:ext>
              </a:extLst>
            </a:blip>
            <a:srcRect l="11683" t="1" r="31864" b="45523"/>
            <a:stretch>
              <a:fillRect/>
            </a:stretch>
          </p:blipFill>
          <p:spPr>
            <a:xfrm>
              <a:off x="6095999" y="2726970"/>
              <a:ext cx="5811061" cy="3152782"/>
            </a:xfrm>
            <a:prstGeom prst="rect">
              <a:avLst/>
            </a:prstGeom>
          </p:spPr>
        </p:pic>
      </p:grpSp>
    </p:spTree>
    <p:extLst>
      <p:ext uri="{BB962C8B-B14F-4D97-AF65-F5344CB8AC3E}">
        <p14:creationId xmlns:p14="http://schemas.microsoft.com/office/powerpoint/2010/main" val="3542877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A203437-703A-4E00-A8C0-91D328D6C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3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EBDCB-2AD5-4BC3-3315-A71068F4FE37}"/>
              </a:ext>
            </a:extLst>
          </p:cNvPr>
          <p:cNvSpPr>
            <a:spLocks noGrp="1"/>
          </p:cNvSpPr>
          <p:nvPr>
            <p:ph type="title"/>
          </p:nvPr>
        </p:nvSpPr>
        <p:spPr>
          <a:xfrm>
            <a:off x="589009" y="502400"/>
            <a:ext cx="3367171" cy="1818064"/>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Getting Password Hash using Mimikatz Cont’d</a:t>
            </a:r>
            <a:endParaRPr lang="en-US" sz="2800" kern="120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B3405FBE-CE24-E70C-21C2-64C579F772BE}"/>
              </a:ext>
            </a:extLst>
          </p:cNvPr>
          <p:cNvPicPr>
            <a:picLocks noChangeAspect="1"/>
          </p:cNvPicPr>
          <p:nvPr/>
        </p:nvPicPr>
        <p:blipFill>
          <a:blip r:embed="rId2">
            <a:extLst>
              <a:ext uri="{28A0092B-C50C-407E-A947-70E740481C1C}">
                <a14:useLocalDpi xmlns:a14="http://schemas.microsoft.com/office/drawing/2010/main" val="0"/>
              </a:ext>
            </a:extLst>
          </a:blip>
          <a:srcRect t="17067" b="24584"/>
          <a:stretch>
            <a:fillRect/>
          </a:stretch>
        </p:blipFill>
        <p:spPr>
          <a:xfrm>
            <a:off x="4555236" y="6"/>
            <a:ext cx="7636763" cy="2762724"/>
          </a:xfrm>
          <a:prstGeom prst="rect">
            <a:avLst/>
          </a:prstGeom>
        </p:spPr>
      </p:pic>
      <p:sp>
        <p:nvSpPr>
          <p:cNvPr id="25" name="Rectangle 24">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272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5" name="Picture 4">
            <a:extLst>
              <a:ext uri="{FF2B5EF4-FFF2-40B4-BE49-F238E27FC236}">
                <a16:creationId xmlns:a16="http://schemas.microsoft.com/office/drawing/2014/main" id="{978E98DE-F68E-19FA-BAA6-CF07F2975B75}"/>
              </a:ext>
            </a:extLst>
          </p:cNvPr>
          <p:cNvPicPr>
            <a:picLocks noChangeAspect="1"/>
          </p:cNvPicPr>
          <p:nvPr/>
        </p:nvPicPr>
        <p:blipFill>
          <a:blip r:embed="rId3">
            <a:extLst>
              <a:ext uri="{28A0092B-C50C-407E-A947-70E740481C1C}">
                <a14:useLocalDpi xmlns:a14="http://schemas.microsoft.com/office/drawing/2010/main" val="0"/>
              </a:ext>
            </a:extLst>
          </a:blip>
          <a:srcRect l="9067" r="39" b="-4"/>
          <a:stretch>
            <a:fillRect/>
          </a:stretch>
        </p:blipFill>
        <p:spPr>
          <a:xfrm>
            <a:off x="-1" y="2826737"/>
            <a:ext cx="4565779" cy="4031263"/>
          </a:xfrm>
          <a:prstGeom prst="rect">
            <a:avLst/>
          </a:prstGeom>
        </p:spPr>
      </p:pic>
      <p:sp>
        <p:nvSpPr>
          <p:cNvPr id="3" name="TextBox 2">
            <a:extLst>
              <a:ext uri="{FF2B5EF4-FFF2-40B4-BE49-F238E27FC236}">
                <a16:creationId xmlns:a16="http://schemas.microsoft.com/office/drawing/2014/main" id="{43978124-06D1-D277-81BA-A9732B7A330B}"/>
              </a:ext>
            </a:extLst>
          </p:cNvPr>
          <p:cNvSpPr txBox="1"/>
          <p:nvPr/>
        </p:nvSpPr>
        <p:spPr>
          <a:xfrm>
            <a:off x="5449633" y="3455208"/>
            <a:ext cx="5742432" cy="2344708"/>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b="1"/>
              <a:t>Step 9: </a:t>
            </a:r>
            <a:r>
              <a:rPr lang="en-US" sz="2000"/>
              <a:t>After downloading the files double click on the mimikatz.exe file. Click “Run” when you get a SmartScreen notification. </a:t>
            </a:r>
          </a:p>
          <a:p>
            <a:pPr marL="285750" indent="-228600">
              <a:lnSpc>
                <a:spcPct val="90000"/>
              </a:lnSpc>
              <a:spcAft>
                <a:spcPts val="600"/>
              </a:spcAft>
              <a:buFont typeface="Arial" panose="020B0604020202020204" pitchFamily="34" charset="0"/>
              <a:buChar char="•"/>
            </a:pPr>
            <a:r>
              <a:rPr lang="en-US" sz="2000" b="1"/>
              <a:t>Step 10: </a:t>
            </a:r>
            <a:r>
              <a:rPr lang="en-US" sz="2000"/>
              <a:t>A command line prompt of Mimikatz tool will open as shown</a:t>
            </a:r>
            <a:endParaRPr lang="en-US" sz="2000" b="1"/>
          </a:p>
        </p:txBody>
      </p:sp>
      <p:sp>
        <p:nvSpPr>
          <p:cNvPr id="27" name="Rectangle 26">
            <a:extLst>
              <a:ext uri="{FF2B5EF4-FFF2-40B4-BE49-F238E27FC236}">
                <a16:creationId xmlns:a16="http://schemas.microsoft.com/office/drawing/2014/main" id="{4F96EE13-2C4D-4262-812E-DDE5FC35F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5823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86379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BE7C-4F7E-17FB-F0B2-E6CFBA538A77}"/>
              </a:ext>
            </a:extLst>
          </p:cNvPr>
          <p:cNvSpPr>
            <a:spLocks noGrp="1"/>
          </p:cNvSpPr>
          <p:nvPr>
            <p:ph type="title"/>
          </p:nvPr>
        </p:nvSpPr>
        <p:spPr>
          <a:xfrm>
            <a:off x="838200" y="365125"/>
            <a:ext cx="9448800" cy="952885"/>
          </a:xfrm>
        </p:spPr>
        <p:txBody>
          <a:bodyPr>
            <a:normAutofit/>
          </a:bodyPr>
          <a:lstStyle/>
          <a:p>
            <a:r>
              <a:rPr lang="en-US" sz="3600" b="1"/>
              <a:t>Getting Password Hash using Mimikatz Cont’d</a:t>
            </a:r>
            <a:endParaRPr lang="en-GB" sz="3600" b="1" dirty="0"/>
          </a:p>
        </p:txBody>
      </p:sp>
      <p:sp>
        <p:nvSpPr>
          <p:cNvPr id="3" name="TextBox 2">
            <a:extLst>
              <a:ext uri="{FF2B5EF4-FFF2-40B4-BE49-F238E27FC236}">
                <a16:creationId xmlns:a16="http://schemas.microsoft.com/office/drawing/2014/main" id="{A879463C-1E99-D603-99EA-91D19F1196B4}"/>
              </a:ext>
            </a:extLst>
          </p:cNvPr>
          <p:cNvSpPr txBox="1"/>
          <p:nvPr/>
        </p:nvSpPr>
        <p:spPr>
          <a:xfrm>
            <a:off x="723900" y="1318010"/>
            <a:ext cx="10744200" cy="923330"/>
          </a:xfrm>
          <a:prstGeom prst="rect">
            <a:avLst/>
          </a:prstGeom>
          <a:noFill/>
        </p:spPr>
        <p:txBody>
          <a:bodyPr wrap="square" rtlCol="0">
            <a:spAutoFit/>
          </a:bodyPr>
          <a:lstStyle/>
          <a:p>
            <a:pPr marL="285750" indent="-285750">
              <a:buFont typeface="Arial" panose="020B0604020202020204" pitchFamily="34" charset="0"/>
              <a:buChar char="•"/>
            </a:pPr>
            <a:r>
              <a:rPr lang="en-GB" b="1"/>
              <a:t>Step 11: </a:t>
            </a:r>
            <a:r>
              <a:rPr lang="en-GB"/>
              <a:t>Type “</a:t>
            </a:r>
            <a:r>
              <a:rPr lang="en-GB" i="1"/>
              <a:t>lsadump::sam /system: SYSTEM /SAM:SAM</a:t>
            </a:r>
            <a:r>
              <a:rPr lang="en-GB"/>
              <a:t>” command in command line prompt of Mimikatz tool. Press Enter. The command will show NTLM hash password of Windows operating system as shown.</a:t>
            </a:r>
            <a:endParaRPr lang="en-GB" dirty="0"/>
          </a:p>
        </p:txBody>
      </p:sp>
      <p:grpSp>
        <p:nvGrpSpPr>
          <p:cNvPr id="8" name="Group 7">
            <a:extLst>
              <a:ext uri="{FF2B5EF4-FFF2-40B4-BE49-F238E27FC236}">
                <a16:creationId xmlns:a16="http://schemas.microsoft.com/office/drawing/2014/main" id="{128DCE78-0A2C-A943-41AA-8C57D0C30361}"/>
              </a:ext>
            </a:extLst>
          </p:cNvPr>
          <p:cNvGrpSpPr/>
          <p:nvPr/>
        </p:nvGrpSpPr>
        <p:grpSpPr>
          <a:xfrm>
            <a:off x="1364818" y="2910089"/>
            <a:ext cx="10103282" cy="2456800"/>
            <a:chOff x="-4431354" y="2162113"/>
            <a:chExt cx="12619810" cy="3396072"/>
          </a:xfrm>
        </p:grpSpPr>
        <p:pic>
          <p:nvPicPr>
            <p:cNvPr id="5" name="Picture 4">
              <a:extLst>
                <a:ext uri="{FF2B5EF4-FFF2-40B4-BE49-F238E27FC236}">
                  <a16:creationId xmlns:a16="http://schemas.microsoft.com/office/drawing/2014/main" id="{7E082BA3-1C89-F2D1-1800-303251BA3C48}"/>
                </a:ext>
              </a:extLst>
            </p:cNvPr>
            <p:cNvPicPr>
              <a:picLocks noChangeAspect="1"/>
            </p:cNvPicPr>
            <p:nvPr/>
          </p:nvPicPr>
          <p:blipFill>
            <a:blip r:embed="rId2">
              <a:extLst>
                <a:ext uri="{28A0092B-C50C-407E-A947-70E740481C1C}">
                  <a14:useLocalDpi xmlns:a14="http://schemas.microsoft.com/office/drawing/2010/main" val="0"/>
                </a:ext>
              </a:extLst>
            </a:blip>
            <a:srcRect t="36272" r="17705"/>
            <a:stretch>
              <a:fillRect/>
            </a:stretch>
          </p:blipFill>
          <p:spPr>
            <a:xfrm>
              <a:off x="-4431354" y="2162114"/>
              <a:ext cx="7085013" cy="3396071"/>
            </a:xfrm>
            <a:prstGeom prst="rect">
              <a:avLst/>
            </a:prstGeom>
          </p:spPr>
        </p:pic>
        <p:pic>
          <p:nvPicPr>
            <p:cNvPr id="7" name="Picture 6">
              <a:extLst>
                <a:ext uri="{FF2B5EF4-FFF2-40B4-BE49-F238E27FC236}">
                  <a16:creationId xmlns:a16="http://schemas.microsoft.com/office/drawing/2014/main" id="{49C2EAAC-B901-8CBC-F1E7-C2CD434C5693}"/>
                </a:ext>
              </a:extLst>
            </p:cNvPr>
            <p:cNvPicPr>
              <a:picLocks noChangeAspect="1"/>
            </p:cNvPicPr>
            <p:nvPr/>
          </p:nvPicPr>
          <p:blipFill>
            <a:blip r:embed="rId3">
              <a:extLst>
                <a:ext uri="{28A0092B-C50C-407E-A947-70E740481C1C}">
                  <a14:useLocalDpi xmlns:a14="http://schemas.microsoft.com/office/drawing/2010/main" val="0"/>
                </a:ext>
              </a:extLst>
            </a:blip>
            <a:srcRect t="42222"/>
            <a:stretch>
              <a:fillRect/>
            </a:stretch>
          </p:blipFill>
          <p:spPr>
            <a:xfrm>
              <a:off x="2653659" y="2162113"/>
              <a:ext cx="5534797" cy="3396072"/>
            </a:xfrm>
            <a:prstGeom prst="rect">
              <a:avLst/>
            </a:prstGeom>
            <a:ln>
              <a:solidFill>
                <a:schemeClr val="bg1"/>
              </a:solidFill>
            </a:ln>
          </p:spPr>
        </p:pic>
      </p:grpSp>
    </p:spTree>
    <p:extLst>
      <p:ext uri="{BB962C8B-B14F-4D97-AF65-F5344CB8AC3E}">
        <p14:creationId xmlns:p14="http://schemas.microsoft.com/office/powerpoint/2010/main" val="2321206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B7DB478-D5D4-380F-0415-252E04D24E88}"/>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l="7459" r="1537"/>
          <a:stretch>
            <a:fillRect/>
          </a:stretch>
        </p:blipFill>
        <p:spPr>
          <a:xfrm>
            <a:off x="181899" y="182880"/>
            <a:ext cx="5915025" cy="6499784"/>
          </a:xfrm>
          <a:prstGeom prst="rect">
            <a:avLst/>
          </a:prstGeom>
        </p:spPr>
      </p:pic>
      <p:pic>
        <p:nvPicPr>
          <p:cNvPr id="7" name="Picture 6">
            <a:extLst>
              <a:ext uri="{FF2B5EF4-FFF2-40B4-BE49-F238E27FC236}">
                <a16:creationId xmlns:a16="http://schemas.microsoft.com/office/drawing/2014/main" id="{BE53D0B4-D0EE-41B2-9670-F09E949F6030}"/>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l="7459" r="1537"/>
          <a:stretch>
            <a:fillRect/>
          </a:stretch>
        </p:blipFill>
        <p:spPr>
          <a:xfrm>
            <a:off x="6095156" y="182880"/>
            <a:ext cx="5915025" cy="6499784"/>
          </a:xfrm>
          <a:prstGeom prst="rect">
            <a:avLst/>
          </a:prstGeom>
        </p:spPr>
      </p:pic>
      <p:sp>
        <p:nvSpPr>
          <p:cNvPr id="2" name="Title 1">
            <a:extLst>
              <a:ext uri="{FF2B5EF4-FFF2-40B4-BE49-F238E27FC236}">
                <a16:creationId xmlns:a16="http://schemas.microsoft.com/office/drawing/2014/main" id="{921DF301-834A-35FD-0304-15AF5ACCB6DA}"/>
              </a:ext>
            </a:extLst>
          </p:cNvPr>
          <p:cNvSpPr>
            <a:spLocks noGrp="1"/>
          </p:cNvSpPr>
          <p:nvPr>
            <p:ph type="title"/>
          </p:nvPr>
        </p:nvSpPr>
        <p:spPr>
          <a:xfrm>
            <a:off x="844614" y="557189"/>
            <a:ext cx="10509179" cy="2795808"/>
          </a:xfrm>
        </p:spPr>
        <p:txBody>
          <a:bodyPr vert="horz" lIns="91440" tIns="45720" rIns="91440" bIns="45720" rtlCol="0" anchor="b">
            <a:normAutofit/>
          </a:bodyPr>
          <a:lstStyle/>
          <a:p>
            <a:r>
              <a:rPr lang="en-US" sz="4000" b="1" kern="1200">
                <a:solidFill>
                  <a:srgbClr val="FFFFFF"/>
                </a:solidFill>
                <a:latin typeface="+mj-lt"/>
                <a:ea typeface="+mj-ea"/>
                <a:cs typeface="+mj-cs"/>
              </a:rPr>
              <a:t>Hashcat</a:t>
            </a:r>
          </a:p>
        </p:txBody>
      </p:sp>
      <p:sp>
        <p:nvSpPr>
          <p:cNvPr id="5" name="TextBox 4">
            <a:extLst>
              <a:ext uri="{FF2B5EF4-FFF2-40B4-BE49-F238E27FC236}">
                <a16:creationId xmlns:a16="http://schemas.microsoft.com/office/drawing/2014/main" id="{7F0DACED-B595-A652-F0F8-020525F482B2}"/>
              </a:ext>
            </a:extLst>
          </p:cNvPr>
          <p:cNvSpPr txBox="1"/>
          <p:nvPr/>
        </p:nvSpPr>
        <p:spPr>
          <a:xfrm>
            <a:off x="844614" y="3526300"/>
            <a:ext cx="10509179" cy="258845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000" b="1" dirty="0" err="1">
                <a:solidFill>
                  <a:srgbClr val="FFFFFF"/>
                </a:solidFill>
              </a:rPr>
              <a:t>Hashcat</a:t>
            </a:r>
            <a:r>
              <a:rPr lang="en-US" sz="2000" b="1" dirty="0">
                <a:solidFill>
                  <a:srgbClr val="FFFFFF"/>
                </a:solidFill>
              </a:rPr>
              <a:t> </a:t>
            </a:r>
            <a:r>
              <a:rPr lang="en-US" sz="2000" dirty="0">
                <a:solidFill>
                  <a:srgbClr val="FFFFFF"/>
                </a:solidFill>
              </a:rPr>
              <a:t>is an advanced password recovery tool. It had a proprietary code base until 2015, but now it is an open-source tool and available in Kali Linux operating system.</a:t>
            </a:r>
          </a:p>
          <a:p>
            <a:pPr marL="285750" indent="-228600">
              <a:lnSpc>
                <a:spcPct val="90000"/>
              </a:lnSpc>
              <a:spcAft>
                <a:spcPts val="600"/>
              </a:spcAft>
              <a:buFont typeface="Arial" panose="020B0604020202020204" pitchFamily="34" charset="0"/>
              <a:buChar char="•"/>
            </a:pPr>
            <a:r>
              <a:rPr lang="en-US" sz="2000" dirty="0">
                <a:solidFill>
                  <a:srgbClr val="FFFFFF"/>
                </a:solidFill>
              </a:rPr>
              <a:t>It recovers and provides plaintext of various hash such as LM, NTLM, MD5, SHA, and so on.</a:t>
            </a:r>
          </a:p>
        </p:txBody>
      </p:sp>
    </p:spTree>
    <p:extLst>
      <p:ext uri="{BB962C8B-B14F-4D97-AF65-F5344CB8AC3E}">
        <p14:creationId xmlns:p14="http://schemas.microsoft.com/office/powerpoint/2010/main" val="2537749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FEF463D-EE6B-46FF-B7C7-74B09A96C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1A27B3A-460C-4100-99B5-817F25979F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7089" y="1498602"/>
            <a:ext cx="4403345" cy="3940174"/>
            <a:chOff x="827089" y="1498602"/>
            <a:chExt cx="4403345" cy="3940174"/>
          </a:xfrm>
          <a:effectLst>
            <a:outerShdw blurRad="381000" dist="152400" dir="5400000" algn="ctr" rotWithShape="0">
              <a:srgbClr val="000000">
                <a:alpha val="10000"/>
              </a:srgbClr>
            </a:outerShdw>
          </a:effectLst>
        </p:grpSpPr>
        <p:sp>
          <p:nvSpPr>
            <p:cNvPr id="12" name="Freeform: Shape 11">
              <a:extLst>
                <a:ext uri="{FF2B5EF4-FFF2-40B4-BE49-F238E27FC236}">
                  <a16:creationId xmlns:a16="http://schemas.microsoft.com/office/drawing/2014/main" id="{35450488-7F33-43E4-B4DA-CAB50A1CC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9" y="1498602"/>
              <a:ext cx="4403345" cy="3940174"/>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alpha val="14000"/>
                  </a:schemeClr>
                </a:solidFill>
              </a:endParaRPr>
            </a:p>
          </p:txBody>
        </p:sp>
        <p:sp>
          <p:nvSpPr>
            <p:cNvPr id="19" name="Freeform: Shape 18">
              <a:extLst>
                <a:ext uri="{FF2B5EF4-FFF2-40B4-BE49-F238E27FC236}">
                  <a16:creationId xmlns:a16="http://schemas.microsoft.com/office/drawing/2014/main" id="{EE5154B2-BEF9-4C08-B6B1-9DED9F17C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9" y="1498602"/>
              <a:ext cx="4403345" cy="3940174"/>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alpha val="14000"/>
                  </a:schemeClr>
                </a:solidFill>
              </a:endParaRPr>
            </a:p>
          </p:txBody>
        </p:sp>
      </p:grpSp>
      <p:sp>
        <p:nvSpPr>
          <p:cNvPr id="3" name="Title 1">
            <a:extLst>
              <a:ext uri="{FF2B5EF4-FFF2-40B4-BE49-F238E27FC236}">
                <a16:creationId xmlns:a16="http://schemas.microsoft.com/office/drawing/2014/main" id="{71B22E52-E817-D81E-CC8A-70DD34FAF052}"/>
              </a:ext>
            </a:extLst>
          </p:cNvPr>
          <p:cNvSpPr>
            <a:spLocks noGrp="1"/>
          </p:cNvSpPr>
          <p:nvPr>
            <p:ph type="title"/>
          </p:nvPr>
        </p:nvSpPr>
        <p:spPr>
          <a:xfrm>
            <a:off x="1268127" y="2023558"/>
            <a:ext cx="3521265" cy="2491292"/>
          </a:xfrm>
        </p:spPr>
        <p:txBody>
          <a:bodyPr vert="horz" lIns="91440" tIns="45720" rIns="91440" bIns="45720" rtlCol="0" anchor="t">
            <a:normAutofit/>
          </a:bodyPr>
          <a:lstStyle/>
          <a:p>
            <a:r>
              <a:rPr lang="en-US" sz="4000" b="1" kern="1200" dirty="0">
                <a:solidFill>
                  <a:schemeClr val="tx1"/>
                </a:solidFill>
                <a:latin typeface="+mj-lt"/>
                <a:ea typeface="+mj-ea"/>
                <a:cs typeface="+mj-cs"/>
              </a:rPr>
              <a:t>Recovering Plaintext from NTLM Hash With </a:t>
            </a:r>
            <a:r>
              <a:rPr lang="en-US" sz="4000" b="1" kern="1200" dirty="0" err="1">
                <a:solidFill>
                  <a:schemeClr val="tx1"/>
                </a:solidFill>
                <a:latin typeface="+mj-lt"/>
                <a:ea typeface="+mj-ea"/>
                <a:cs typeface="+mj-cs"/>
              </a:rPr>
              <a:t>Hashcat</a:t>
            </a:r>
            <a:endParaRPr lang="en-US" sz="4000" b="1"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30B5ED20-499B-41E7-95BE-8BBD31314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258080"/>
            <a:ext cx="4403345" cy="1180695"/>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35A51D22-76EA-4C70-B5C9-ED3946924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258080"/>
            <a:ext cx="4403345" cy="1180695"/>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95E3BF58-FE42-48C4-CD92-B98D8E1F16C2}"/>
              </a:ext>
            </a:extLst>
          </p:cNvPr>
          <p:cNvSpPr txBox="1"/>
          <p:nvPr/>
        </p:nvSpPr>
        <p:spPr>
          <a:xfrm>
            <a:off x="6099175" y="1311088"/>
            <a:ext cx="5276850" cy="4327261"/>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400">
                <a:solidFill>
                  <a:schemeClr val="tx1">
                    <a:alpha val="80000"/>
                  </a:schemeClr>
                </a:solidFill>
              </a:rPr>
              <a:t>The Mimikatz tool provides NTLM hash of Windows operating system password. The password in plaintext from NTLM hash can be recovered with hashcat tool with following steps:It recovers and provides plaintext of various hash such as LM, NTLM, MD5, SHA, and so on.</a:t>
            </a:r>
          </a:p>
        </p:txBody>
      </p:sp>
    </p:spTree>
    <p:extLst>
      <p:ext uri="{BB962C8B-B14F-4D97-AF65-F5344CB8AC3E}">
        <p14:creationId xmlns:p14="http://schemas.microsoft.com/office/powerpoint/2010/main" val="397190935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B449DC-E76B-E92D-1523-894737131065}"/>
              </a:ext>
            </a:extLst>
          </p:cNvPr>
          <p:cNvSpPr>
            <a:spLocks noGrp="1"/>
          </p:cNvSpPr>
          <p:nvPr>
            <p:ph type="title"/>
          </p:nvPr>
        </p:nvSpPr>
        <p:spPr>
          <a:xfrm>
            <a:off x="838201" y="1641752"/>
            <a:ext cx="4394200" cy="1323439"/>
          </a:xfrm>
        </p:spPr>
        <p:txBody>
          <a:bodyPr vert="horz" lIns="91440" tIns="45720" rIns="91440" bIns="45720" rtlCol="0" anchor="t">
            <a:normAutofit/>
          </a:bodyPr>
          <a:lstStyle/>
          <a:p>
            <a:r>
              <a:rPr lang="en-US" sz="2800" b="1" kern="1200" dirty="0">
                <a:solidFill>
                  <a:schemeClr val="bg1"/>
                </a:solidFill>
                <a:latin typeface="+mj-lt"/>
                <a:ea typeface="+mj-ea"/>
                <a:cs typeface="+mj-cs"/>
              </a:rPr>
              <a:t>Recovering Plaintext from NTLM Hash With </a:t>
            </a:r>
            <a:r>
              <a:rPr lang="en-US" sz="2800" b="1" kern="1200" dirty="0" err="1">
                <a:solidFill>
                  <a:schemeClr val="bg1"/>
                </a:solidFill>
                <a:latin typeface="+mj-lt"/>
                <a:ea typeface="+mj-ea"/>
                <a:cs typeface="+mj-cs"/>
              </a:rPr>
              <a:t>Hashcat</a:t>
            </a:r>
            <a:r>
              <a:rPr lang="en-US" sz="2800" b="1" kern="1200" dirty="0">
                <a:solidFill>
                  <a:schemeClr val="bg1"/>
                </a:solidFill>
                <a:latin typeface="+mj-lt"/>
                <a:ea typeface="+mj-ea"/>
                <a:cs typeface="+mj-cs"/>
              </a:rPr>
              <a:t> Cont’d</a:t>
            </a:r>
            <a:endParaRPr lang="en-US" sz="2800" kern="1200" dirty="0">
              <a:solidFill>
                <a:schemeClr val="bg1"/>
              </a:solidFill>
              <a:latin typeface="+mj-lt"/>
              <a:ea typeface="+mj-ea"/>
              <a:cs typeface="+mj-cs"/>
            </a:endParaRPr>
          </a:p>
        </p:txBody>
      </p:sp>
      <p:sp>
        <p:nvSpPr>
          <p:cNvPr id="3" name="TextBox 2">
            <a:extLst>
              <a:ext uri="{FF2B5EF4-FFF2-40B4-BE49-F238E27FC236}">
                <a16:creationId xmlns:a16="http://schemas.microsoft.com/office/drawing/2014/main" id="{DE3490DF-93E6-8BA3-5FA0-613AA8751CFE}"/>
              </a:ext>
            </a:extLst>
          </p:cNvPr>
          <p:cNvSpPr txBox="1"/>
          <p:nvPr/>
        </p:nvSpPr>
        <p:spPr>
          <a:xfrm>
            <a:off x="838201" y="2921550"/>
            <a:ext cx="4394200" cy="3599174"/>
          </a:xfrm>
          <a:prstGeom prst="rect">
            <a:avLst/>
          </a:prstGeom>
        </p:spPr>
        <p:txBody>
          <a:bodyPr vert="horz" lIns="91440" tIns="45720" rIns="91440" bIns="45720" rtlCol="0">
            <a:noAutofit/>
          </a:bodyPr>
          <a:lstStyle/>
          <a:p>
            <a:pPr marL="285750" indent="-228600">
              <a:lnSpc>
                <a:spcPct val="90000"/>
              </a:lnSpc>
              <a:spcAft>
                <a:spcPts val="600"/>
              </a:spcAft>
              <a:buFont typeface="Arial" panose="020B0604020202020204" pitchFamily="34" charset="0"/>
              <a:buChar char="•"/>
            </a:pPr>
            <a:r>
              <a:rPr lang="en-US" b="1" dirty="0">
                <a:solidFill>
                  <a:schemeClr val="bg1">
                    <a:alpha val="80000"/>
                  </a:schemeClr>
                </a:solidFill>
              </a:rPr>
              <a:t>Step 1: </a:t>
            </a:r>
            <a:r>
              <a:rPr lang="en-US" dirty="0">
                <a:solidFill>
                  <a:schemeClr val="bg1">
                    <a:alpha val="80000"/>
                  </a:schemeClr>
                </a:solidFill>
              </a:rPr>
              <a:t>Open Kali Linux operating system and copy the NTLM hash you recovered from </a:t>
            </a:r>
            <a:r>
              <a:rPr lang="en-US" dirty="0" err="1">
                <a:solidFill>
                  <a:schemeClr val="bg1">
                    <a:alpha val="80000"/>
                  </a:schemeClr>
                </a:solidFill>
              </a:rPr>
              <a:t>mimikatz</a:t>
            </a:r>
            <a:r>
              <a:rPr lang="en-US" dirty="0">
                <a:solidFill>
                  <a:schemeClr val="bg1">
                    <a:alpha val="80000"/>
                  </a:schemeClr>
                </a:solidFill>
              </a:rPr>
              <a:t> previously and paste in a text file. You can use mousepad or any text editor then save the file name as “hashed” as seen in the screenshot.</a:t>
            </a:r>
          </a:p>
          <a:p>
            <a:pPr marL="285750" indent="-228600">
              <a:lnSpc>
                <a:spcPct val="90000"/>
              </a:lnSpc>
              <a:spcAft>
                <a:spcPts val="600"/>
              </a:spcAft>
              <a:buFont typeface="Arial" panose="020B0604020202020204" pitchFamily="34" charset="0"/>
              <a:buChar char="•"/>
            </a:pPr>
            <a:r>
              <a:rPr lang="en-US" b="1" dirty="0">
                <a:solidFill>
                  <a:schemeClr val="bg1">
                    <a:alpha val="80000"/>
                  </a:schemeClr>
                </a:solidFill>
              </a:rPr>
              <a:t>Step 2: </a:t>
            </a:r>
            <a:r>
              <a:rPr lang="en-US" dirty="0">
                <a:solidFill>
                  <a:schemeClr val="bg1">
                    <a:alpha val="80000"/>
                  </a:schemeClr>
                </a:solidFill>
              </a:rPr>
              <a:t>Instead of looking for random password file online I compiled my own password based on the information I have gathered about the target this is how real attackers would do. And saved the passwords in a file named password as seen in the following screenshot.</a:t>
            </a:r>
            <a:endParaRPr lang="en-US" b="1" dirty="0">
              <a:solidFill>
                <a:schemeClr val="bg1">
                  <a:alpha val="80000"/>
                </a:schemeClr>
              </a:solidFill>
            </a:endParaRPr>
          </a:p>
        </p:txBody>
      </p:sp>
      <p:pic>
        <p:nvPicPr>
          <p:cNvPr id="5" name="Picture 4">
            <a:extLst>
              <a:ext uri="{FF2B5EF4-FFF2-40B4-BE49-F238E27FC236}">
                <a16:creationId xmlns:a16="http://schemas.microsoft.com/office/drawing/2014/main" id="{98B0FFB9-135B-0539-4FCA-AEC852A9650C}"/>
              </a:ext>
            </a:extLst>
          </p:cNvPr>
          <p:cNvPicPr>
            <a:picLocks noChangeAspect="1"/>
          </p:cNvPicPr>
          <p:nvPr/>
        </p:nvPicPr>
        <p:blipFill>
          <a:blip r:embed="rId2">
            <a:extLst>
              <a:ext uri="{28A0092B-C50C-407E-A947-70E740481C1C}">
                <a14:useLocalDpi xmlns:a14="http://schemas.microsoft.com/office/drawing/2010/main" val="0"/>
              </a:ext>
            </a:extLst>
          </a:blip>
          <a:srcRect l="7672" r="7673" b="1"/>
          <a:stretch>
            <a:fillRect/>
          </a:stretch>
        </p:blipFill>
        <p:spPr>
          <a:xfrm>
            <a:off x="5814060" y="2"/>
            <a:ext cx="6377940" cy="3333749"/>
          </a:xfrm>
          <a:custGeom>
            <a:avLst/>
            <a:gdLst/>
            <a:ahLst/>
            <a:cxnLst/>
            <a:rect l="l" t="t" r="r" b="b"/>
            <a:pathLst>
              <a:path w="6377940" h="3333749">
                <a:moveTo>
                  <a:pt x="0" y="0"/>
                </a:moveTo>
                <a:lnTo>
                  <a:pt x="6377940" y="0"/>
                </a:lnTo>
                <a:lnTo>
                  <a:pt x="6377940" y="3333749"/>
                </a:lnTo>
                <a:lnTo>
                  <a:pt x="174585" y="3333749"/>
                </a:lnTo>
                <a:lnTo>
                  <a:pt x="0" y="2202180"/>
                </a:lnTo>
                <a:close/>
              </a:path>
            </a:pathLst>
          </a:custGeom>
        </p:spPr>
      </p:pic>
      <p:pic>
        <p:nvPicPr>
          <p:cNvPr id="7" name="Picture 6">
            <a:extLst>
              <a:ext uri="{FF2B5EF4-FFF2-40B4-BE49-F238E27FC236}">
                <a16:creationId xmlns:a16="http://schemas.microsoft.com/office/drawing/2014/main" id="{88ACE247-F44C-06D8-F49D-1830BDC5B667}"/>
              </a:ext>
            </a:extLst>
          </p:cNvPr>
          <p:cNvPicPr>
            <a:picLocks noChangeAspect="1"/>
          </p:cNvPicPr>
          <p:nvPr/>
        </p:nvPicPr>
        <p:blipFill>
          <a:blip r:embed="rId3">
            <a:extLst>
              <a:ext uri="{28A0092B-C50C-407E-A947-70E740481C1C}">
                <a14:useLocalDpi xmlns:a14="http://schemas.microsoft.com/office/drawing/2010/main" val="0"/>
              </a:ext>
            </a:extLst>
          </a:blip>
          <a:srcRect t="13584" r="2" b="19518"/>
          <a:stretch>
            <a:fillRect/>
          </a:stretch>
        </p:blipFill>
        <p:spPr>
          <a:xfrm>
            <a:off x="5814060" y="3524252"/>
            <a:ext cx="6377940" cy="3333748"/>
          </a:xfrm>
          <a:custGeom>
            <a:avLst/>
            <a:gdLst/>
            <a:ahLst/>
            <a:cxnLst/>
            <a:rect l="l" t="t" r="r" b="b"/>
            <a:pathLst>
              <a:path w="6377940" h="3333748">
                <a:moveTo>
                  <a:pt x="203977" y="0"/>
                </a:moveTo>
                <a:lnTo>
                  <a:pt x="6377940" y="0"/>
                </a:lnTo>
                <a:lnTo>
                  <a:pt x="6377940" y="3333748"/>
                </a:lnTo>
                <a:lnTo>
                  <a:pt x="0" y="3333748"/>
                </a:lnTo>
                <a:lnTo>
                  <a:pt x="525780" y="1931668"/>
                </a:lnTo>
                <a:lnTo>
                  <a:pt x="205740" y="11428"/>
                </a:lnTo>
                <a:close/>
              </a:path>
            </a:pathLst>
          </a:custGeom>
        </p:spPr>
      </p:pic>
      <p:grpSp>
        <p:nvGrpSpPr>
          <p:cNvPr id="24" name="Group 23">
            <a:extLst>
              <a:ext uri="{FF2B5EF4-FFF2-40B4-BE49-F238E27FC236}">
                <a16:creationId xmlns:a16="http://schemas.microsoft.com/office/drawing/2014/main" id="{364A290D-B7BC-40B4-AB97-0C801BCCE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8" y="544"/>
            <a:ext cx="874716" cy="6857455"/>
            <a:chOff x="5632358" y="544"/>
            <a:chExt cx="874716" cy="6857455"/>
          </a:xfrm>
        </p:grpSpPr>
        <p:sp>
          <p:nvSpPr>
            <p:cNvPr id="25" name="Freeform: Shape 24">
              <a:extLst>
                <a:ext uri="{FF2B5EF4-FFF2-40B4-BE49-F238E27FC236}">
                  <a16:creationId xmlns:a16="http://schemas.microsoft.com/office/drawing/2014/main" id="{3C60D1EB-842B-4027-9728-E57314926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a:outerShdw blurRad="381000" dist="152400" dir="108000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44E103E5-C039-4EA4-843B-AD566B5C9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107399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5" name="Rectangle 14">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463AA90-7CEF-F95E-0CCE-CE017948B54D}"/>
              </a:ext>
            </a:extLst>
          </p:cNvPr>
          <p:cNvSpPr>
            <a:spLocks noGrp="1"/>
          </p:cNvSpPr>
          <p:nvPr>
            <p:ph type="title"/>
          </p:nvPr>
        </p:nvSpPr>
        <p:spPr>
          <a:xfrm>
            <a:off x="1371598" y="319314"/>
            <a:ext cx="9477377" cy="1030515"/>
          </a:xfrm>
        </p:spPr>
        <p:txBody>
          <a:bodyPr vert="horz" lIns="91440" tIns="45720" rIns="91440" bIns="45720" rtlCol="0" anchor="ctr">
            <a:normAutofit/>
          </a:bodyPr>
          <a:lstStyle/>
          <a:p>
            <a:r>
              <a:rPr lang="en-US" sz="3400" b="1" dirty="0">
                <a:solidFill>
                  <a:srgbClr val="FFFFFF"/>
                </a:solidFill>
              </a:rPr>
              <a:t>Recovering Plaintext from NTLM Hash With </a:t>
            </a:r>
            <a:r>
              <a:rPr lang="en-US" sz="3400" b="1" dirty="0" err="1">
                <a:solidFill>
                  <a:srgbClr val="FFFFFF"/>
                </a:solidFill>
              </a:rPr>
              <a:t>Hashcat</a:t>
            </a:r>
            <a:r>
              <a:rPr lang="en-US" sz="3400" b="1" dirty="0">
                <a:solidFill>
                  <a:srgbClr val="FFFFFF"/>
                </a:solidFill>
              </a:rPr>
              <a:t> Cont’d</a:t>
            </a:r>
            <a:endParaRPr lang="en-US" sz="3400" dirty="0">
              <a:solidFill>
                <a:srgbClr val="FFFFFF"/>
              </a:solidFill>
            </a:endParaRPr>
          </a:p>
        </p:txBody>
      </p:sp>
      <p:pic>
        <p:nvPicPr>
          <p:cNvPr id="7" name="Picture 6">
            <a:extLst>
              <a:ext uri="{FF2B5EF4-FFF2-40B4-BE49-F238E27FC236}">
                <a16:creationId xmlns:a16="http://schemas.microsoft.com/office/drawing/2014/main" id="{13272D2D-1813-D99C-0B88-85F850F7D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4132" y="2256708"/>
            <a:ext cx="4565251" cy="2132388"/>
          </a:xfrm>
          <a:prstGeom prst="rect">
            <a:avLst/>
          </a:prstGeom>
        </p:spPr>
      </p:pic>
      <p:pic>
        <p:nvPicPr>
          <p:cNvPr id="5" name="Picture 4">
            <a:extLst>
              <a:ext uri="{FF2B5EF4-FFF2-40B4-BE49-F238E27FC236}">
                <a16:creationId xmlns:a16="http://schemas.microsoft.com/office/drawing/2014/main" id="{F644C5ED-CF86-7A98-0814-470584D16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850" y="2256709"/>
            <a:ext cx="5138282" cy="2132387"/>
          </a:xfrm>
          <a:prstGeom prst="rect">
            <a:avLst/>
          </a:prstGeom>
        </p:spPr>
      </p:pic>
      <p:sp>
        <p:nvSpPr>
          <p:cNvPr id="3" name="TextBox 2">
            <a:extLst>
              <a:ext uri="{FF2B5EF4-FFF2-40B4-BE49-F238E27FC236}">
                <a16:creationId xmlns:a16="http://schemas.microsoft.com/office/drawing/2014/main" id="{B064219E-8DAB-1F6F-7692-A2595640C9C0}"/>
              </a:ext>
            </a:extLst>
          </p:cNvPr>
          <p:cNvSpPr txBox="1"/>
          <p:nvPr/>
        </p:nvSpPr>
        <p:spPr>
          <a:xfrm>
            <a:off x="1485850" y="4930914"/>
            <a:ext cx="9703533" cy="1607771"/>
          </a:xfrm>
          <a:prstGeom prst="rect">
            <a:avLst/>
          </a:prstGeom>
        </p:spPr>
        <p:txBody>
          <a:bodyPr vert="horz" lIns="91440" tIns="45720" rIns="91440" bIns="45720" rtlCol="0">
            <a:noAutofit/>
          </a:bodyPr>
          <a:lstStyle/>
          <a:p>
            <a:pPr marL="285750" indent="-228600">
              <a:lnSpc>
                <a:spcPct val="90000"/>
              </a:lnSpc>
              <a:spcAft>
                <a:spcPts val="600"/>
              </a:spcAft>
              <a:buFont typeface="Arial" panose="020B0604020202020204" pitchFamily="34" charset="0"/>
              <a:buChar char="•"/>
            </a:pPr>
            <a:r>
              <a:rPr lang="en-US" sz="1600" b="1" dirty="0"/>
              <a:t>Step 3: </a:t>
            </a:r>
            <a:r>
              <a:rPr lang="en-US" sz="1600" dirty="0"/>
              <a:t>Open the terminal and type “</a:t>
            </a:r>
            <a:r>
              <a:rPr lang="en-US" sz="1600" dirty="0" err="1"/>
              <a:t>hashcat</a:t>
            </a:r>
            <a:r>
              <a:rPr lang="en-US" sz="1600" dirty="0"/>
              <a:t>  –h” to see instructions on how to use the </a:t>
            </a:r>
            <a:r>
              <a:rPr lang="en-US" sz="1600" dirty="0" err="1"/>
              <a:t>hashcat</a:t>
            </a:r>
            <a:r>
              <a:rPr lang="en-US" sz="1600" dirty="0"/>
              <a:t> tool. The hash mode for NTLM hash is 1000 and the attack mode is 0 which means straight according </a:t>
            </a:r>
            <a:r>
              <a:rPr lang="en-US" sz="1600" dirty="0" err="1"/>
              <a:t>hashcat</a:t>
            </a:r>
            <a:r>
              <a:rPr lang="en-US" sz="1600" dirty="0"/>
              <a:t> config.</a:t>
            </a:r>
          </a:p>
          <a:p>
            <a:pPr marL="285750" indent="-285750">
              <a:buFont typeface="Arial" panose="020B0604020202020204" pitchFamily="34" charset="0"/>
              <a:buChar char="•"/>
            </a:pPr>
            <a:r>
              <a:rPr lang="en-US" sz="1600" b="1" dirty="0"/>
              <a:t>Step 4: </a:t>
            </a:r>
            <a:r>
              <a:rPr lang="en-US" sz="1600" dirty="0"/>
              <a:t>To crack the password, make sure that both password and hash file are in the same directory,  then type the command “</a:t>
            </a:r>
            <a:r>
              <a:rPr lang="en-US" sz="1600" dirty="0" err="1"/>
              <a:t>hashcat</a:t>
            </a:r>
            <a:r>
              <a:rPr lang="en-US" sz="1600" dirty="0"/>
              <a:t> –m 1000 –a 0 hashed password –force”. </a:t>
            </a:r>
            <a:r>
              <a:rPr lang="en-GB" sz="1600" dirty="0"/>
              <a:t>In this command, -m stands for hash mode (e.g., 1000 stands for NTLM hash, and -a stands for attack mode</a:t>
            </a:r>
            <a:r>
              <a:rPr lang="en-US" sz="1600" dirty="0"/>
              <a:t> </a:t>
            </a:r>
            <a:endParaRPr lang="en-US" sz="1600" b="1" dirty="0"/>
          </a:p>
        </p:txBody>
      </p:sp>
    </p:spTree>
    <p:extLst>
      <p:ext uri="{BB962C8B-B14F-4D97-AF65-F5344CB8AC3E}">
        <p14:creationId xmlns:p14="http://schemas.microsoft.com/office/powerpoint/2010/main" val="1161640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Freeform: Shape 2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Freeform: Shape 3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2B114021-7121-7257-2EBF-0B103EC612CD}"/>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600" b="1" kern="1200">
                <a:solidFill>
                  <a:schemeClr val="tx1"/>
                </a:solidFill>
                <a:latin typeface="+mj-lt"/>
                <a:ea typeface="+mj-ea"/>
                <a:cs typeface="+mj-cs"/>
              </a:rPr>
              <a:t>Recovering Plaintext from NTLM Hash With Hashcat Cont’d</a:t>
            </a:r>
            <a:endParaRPr lang="en-US" sz="2600" kern="1200">
              <a:solidFill>
                <a:schemeClr val="tx1"/>
              </a:solidFill>
              <a:latin typeface="+mj-lt"/>
              <a:ea typeface="+mj-ea"/>
              <a:cs typeface="+mj-cs"/>
            </a:endParaRPr>
          </a:p>
        </p:txBody>
      </p:sp>
      <p:sp>
        <p:nvSpPr>
          <p:cNvPr id="34" name="Rectangle 3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DB0F194-24FA-C373-2B1F-ABB3B6358A5C}"/>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a:t>Step 5: </a:t>
            </a:r>
            <a:r>
              <a:rPr lang="en-US" sz="1700"/>
              <a:t>We successfully cracked the password. The plaintext of the NTLM hash is displayed and highlighted in red rectangular box. The plaintext of the NTLM hash is “Yahwehboy0!”. Type the command to get the cracked password “hashcat –m 1000 –a 0 hashed password –force --show”</a:t>
            </a:r>
          </a:p>
        </p:txBody>
      </p:sp>
      <p:grpSp>
        <p:nvGrpSpPr>
          <p:cNvPr id="7" name="Group 6">
            <a:extLst>
              <a:ext uri="{FF2B5EF4-FFF2-40B4-BE49-F238E27FC236}">
                <a16:creationId xmlns:a16="http://schemas.microsoft.com/office/drawing/2014/main" id="{AD5D4888-A745-DB40-6E4D-A6F39565F908}"/>
              </a:ext>
            </a:extLst>
          </p:cNvPr>
          <p:cNvGrpSpPr/>
          <p:nvPr/>
        </p:nvGrpSpPr>
        <p:grpSpPr>
          <a:xfrm>
            <a:off x="4936754" y="841247"/>
            <a:ext cx="6850867" cy="5276085"/>
            <a:chOff x="6096000" y="1304118"/>
            <a:chExt cx="5915089" cy="4555413"/>
          </a:xfrm>
        </p:grpSpPr>
        <p:pic>
          <p:nvPicPr>
            <p:cNvPr id="5" name="Picture 4">
              <a:extLst>
                <a:ext uri="{FF2B5EF4-FFF2-40B4-BE49-F238E27FC236}">
                  <a16:creationId xmlns:a16="http://schemas.microsoft.com/office/drawing/2014/main" id="{A1F139AF-CDE7-149B-4C77-0DCFDB1BD6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04118"/>
              <a:ext cx="5915089" cy="724596"/>
            </a:xfrm>
            <a:prstGeom prst="rect">
              <a:avLst/>
            </a:prstGeom>
          </p:spPr>
        </p:pic>
        <p:pic>
          <p:nvPicPr>
            <p:cNvPr id="6" name="Picture 5">
              <a:extLst>
                <a:ext uri="{FF2B5EF4-FFF2-40B4-BE49-F238E27FC236}">
                  <a16:creationId xmlns:a16="http://schemas.microsoft.com/office/drawing/2014/main" id="{0748547D-22E9-6CCA-F141-8E5153BA2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5318" y="2230166"/>
              <a:ext cx="4823075" cy="3629365"/>
            </a:xfrm>
            <a:prstGeom prst="rect">
              <a:avLst/>
            </a:prstGeom>
          </p:spPr>
        </p:pic>
      </p:grpSp>
    </p:spTree>
    <p:extLst>
      <p:ext uri="{BB962C8B-B14F-4D97-AF65-F5344CB8AC3E}">
        <p14:creationId xmlns:p14="http://schemas.microsoft.com/office/powerpoint/2010/main" val="980016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2A638C7D-9088-41A9-88A0-7357157BC1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31180" y="1109243"/>
            <a:ext cx="4842710" cy="4842710"/>
            <a:chOff x="1881974" y="1174396"/>
            <a:chExt cx="5290997" cy="5290997"/>
          </a:xfrm>
        </p:grpSpPr>
        <p:sp>
          <p:nvSpPr>
            <p:cNvPr id="24" name="Oval 23">
              <a:extLst>
                <a:ext uri="{FF2B5EF4-FFF2-40B4-BE49-F238E27FC236}">
                  <a16:creationId xmlns:a16="http://schemas.microsoft.com/office/drawing/2014/main" id="{9714B173-1D32-4BBC-A685-1F5D257AB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EF82DD1-2343-4F41-B6A7-A6489A713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Oval 26">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270" y="109540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1AA916-29DA-3853-A9E0-9BCCB2AA9735}"/>
              </a:ext>
            </a:extLst>
          </p:cNvPr>
          <p:cNvSpPr>
            <a:spLocks noGrp="1"/>
          </p:cNvSpPr>
          <p:nvPr>
            <p:ph type="title"/>
          </p:nvPr>
        </p:nvSpPr>
        <p:spPr>
          <a:xfrm>
            <a:off x="5644751" y="568517"/>
            <a:ext cx="6161004" cy="886379"/>
          </a:xfrm>
        </p:spPr>
        <p:txBody>
          <a:bodyPr vert="horz" lIns="91440" tIns="45720" rIns="91440" bIns="45720" rtlCol="0" anchor="ctr">
            <a:normAutofit/>
          </a:bodyPr>
          <a:lstStyle/>
          <a:p>
            <a:r>
              <a:rPr lang="en-US" b="1" kern="1200" dirty="0">
                <a:solidFill>
                  <a:schemeClr val="bg1"/>
                </a:solidFill>
                <a:latin typeface="+mj-lt"/>
                <a:ea typeface="+mj-ea"/>
                <a:cs typeface="+mj-cs"/>
              </a:rPr>
              <a:t>Countermeasures</a:t>
            </a:r>
          </a:p>
        </p:txBody>
      </p:sp>
      <p:grpSp>
        <p:nvGrpSpPr>
          <p:cNvPr id="29" name="Group 28">
            <a:extLst>
              <a:ext uri="{FF2B5EF4-FFF2-40B4-BE49-F238E27FC236}">
                <a16:creationId xmlns:a16="http://schemas.microsoft.com/office/drawing/2014/main" id="{3F219210-B16A-47B6-9AA8-207DAFF37E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30" name="Freeform: Shape 29">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1" name="Freeform: Shape 30">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6" name="Graphic 5" descr="Warning">
            <a:extLst>
              <a:ext uri="{FF2B5EF4-FFF2-40B4-BE49-F238E27FC236}">
                <a16:creationId xmlns:a16="http://schemas.microsoft.com/office/drawing/2014/main" id="{2620F10B-D244-6911-E9CF-73FBA1FAEE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49077" y="1864214"/>
            <a:ext cx="3217333" cy="3217333"/>
          </a:xfrm>
          <a:prstGeom prst="rect">
            <a:avLst/>
          </a:prstGeom>
        </p:spPr>
      </p:pic>
      <p:sp>
        <p:nvSpPr>
          <p:cNvPr id="3" name="TextBox 2">
            <a:extLst>
              <a:ext uri="{FF2B5EF4-FFF2-40B4-BE49-F238E27FC236}">
                <a16:creationId xmlns:a16="http://schemas.microsoft.com/office/drawing/2014/main" id="{069B437D-7075-8DA8-F129-8E262D9EDE4D}"/>
              </a:ext>
            </a:extLst>
          </p:cNvPr>
          <p:cNvSpPr txBox="1"/>
          <p:nvPr/>
        </p:nvSpPr>
        <p:spPr>
          <a:xfrm>
            <a:off x="6234868" y="1820369"/>
            <a:ext cx="5217173" cy="435133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500" b="1" dirty="0">
                <a:solidFill>
                  <a:schemeClr val="bg1"/>
                </a:solidFill>
              </a:rPr>
              <a:t>Strong Password: </a:t>
            </a:r>
            <a:r>
              <a:rPr lang="en-US" sz="1500" dirty="0">
                <a:solidFill>
                  <a:schemeClr val="bg1"/>
                </a:solidFill>
              </a:rPr>
              <a:t>Establish strong password using special characters, numbers, and lower- and upper-case alphabets.</a:t>
            </a:r>
          </a:p>
          <a:p>
            <a:pPr marL="285750" indent="-228600">
              <a:lnSpc>
                <a:spcPct val="90000"/>
              </a:lnSpc>
              <a:spcAft>
                <a:spcPts val="600"/>
              </a:spcAft>
              <a:buFont typeface="Arial" panose="020B0604020202020204" pitchFamily="34" charset="0"/>
              <a:buChar char="•"/>
            </a:pPr>
            <a:r>
              <a:rPr lang="en-US" sz="1500" b="1" dirty="0">
                <a:solidFill>
                  <a:schemeClr val="bg1"/>
                </a:solidFill>
              </a:rPr>
              <a:t>Minimum Password Length: </a:t>
            </a:r>
            <a:r>
              <a:rPr lang="en-US" sz="1500" dirty="0">
                <a:solidFill>
                  <a:schemeClr val="bg1"/>
                </a:solidFill>
              </a:rPr>
              <a:t>The length of the password should be set to at least 14 characters. The long passwords are harder to crack than the short ones.</a:t>
            </a:r>
          </a:p>
          <a:p>
            <a:pPr marL="285750" indent="-228600">
              <a:lnSpc>
                <a:spcPct val="90000"/>
              </a:lnSpc>
              <a:spcAft>
                <a:spcPts val="600"/>
              </a:spcAft>
              <a:buFont typeface="Arial" panose="020B0604020202020204" pitchFamily="34" charset="0"/>
              <a:buChar char="•"/>
            </a:pPr>
            <a:r>
              <a:rPr lang="en-US" sz="1500" b="1" dirty="0">
                <a:solidFill>
                  <a:schemeClr val="bg1"/>
                </a:solidFill>
              </a:rPr>
              <a:t>Dictionary words: </a:t>
            </a:r>
            <a:r>
              <a:rPr lang="en-US" sz="1500" dirty="0">
                <a:solidFill>
                  <a:schemeClr val="bg1"/>
                </a:solidFill>
              </a:rPr>
              <a:t>Do not use dictionary words such as password, qwerty, abc123, etc. These passwords can be cracked easily with tools. Do not rely on similar looking characters such as 3 → E , 5 →S , ! → 1. These words are also stored in dictionary.</a:t>
            </a:r>
          </a:p>
          <a:p>
            <a:pPr marL="285750" indent="-228600">
              <a:lnSpc>
                <a:spcPct val="90000"/>
              </a:lnSpc>
              <a:spcAft>
                <a:spcPts val="600"/>
              </a:spcAft>
              <a:buFont typeface="Arial" panose="020B0604020202020204" pitchFamily="34" charset="0"/>
              <a:buChar char="•"/>
            </a:pPr>
            <a:r>
              <a:rPr lang="en-US" sz="1500" b="1" dirty="0">
                <a:solidFill>
                  <a:schemeClr val="bg1"/>
                </a:solidFill>
              </a:rPr>
              <a:t>Minimum Password Age:</a:t>
            </a:r>
            <a:r>
              <a:rPr lang="en-US" sz="1500" dirty="0">
                <a:solidFill>
                  <a:schemeClr val="bg1"/>
                </a:solidFill>
              </a:rPr>
              <a:t> The users must change the password after some time (30 days). This will reduce the risk of password cracking.</a:t>
            </a:r>
          </a:p>
          <a:p>
            <a:pPr marL="285750" indent="-228600">
              <a:lnSpc>
                <a:spcPct val="90000"/>
              </a:lnSpc>
              <a:spcAft>
                <a:spcPts val="600"/>
              </a:spcAft>
              <a:buFont typeface="Arial" panose="020B0604020202020204" pitchFamily="34" charset="0"/>
              <a:buChar char="•"/>
            </a:pPr>
            <a:r>
              <a:rPr lang="en-US" sz="1500" b="1" dirty="0">
                <a:solidFill>
                  <a:schemeClr val="bg1"/>
                </a:solidFill>
              </a:rPr>
              <a:t>Stronger Authentication Method: </a:t>
            </a:r>
            <a:r>
              <a:rPr lang="en-US" sz="1500" dirty="0">
                <a:solidFill>
                  <a:schemeClr val="bg1"/>
                </a:solidFill>
              </a:rPr>
              <a:t>Use stronger authentication methods such as enable Gmail one time password feature to login in a new device.</a:t>
            </a:r>
            <a:endParaRPr lang="en-US" sz="1500" b="1" dirty="0">
              <a:solidFill>
                <a:schemeClr val="bg1"/>
              </a:solidFill>
            </a:endParaRPr>
          </a:p>
          <a:p>
            <a:pPr indent="-228600">
              <a:lnSpc>
                <a:spcPct val="90000"/>
              </a:lnSpc>
              <a:spcAft>
                <a:spcPts val="600"/>
              </a:spcAft>
              <a:buFont typeface="Arial" panose="020B0604020202020204" pitchFamily="34" charset="0"/>
              <a:buChar char="•"/>
            </a:pPr>
            <a:endParaRPr lang="en-US" sz="1500" b="1" dirty="0">
              <a:solidFill>
                <a:schemeClr val="bg1"/>
              </a:solidFill>
            </a:endParaRPr>
          </a:p>
        </p:txBody>
      </p:sp>
      <p:grpSp>
        <p:nvGrpSpPr>
          <p:cNvPr id="33"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4" name="Freeform: Shape 33">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32433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extBox 2">
            <a:extLst>
              <a:ext uri="{FF2B5EF4-FFF2-40B4-BE49-F238E27FC236}">
                <a16:creationId xmlns:a16="http://schemas.microsoft.com/office/drawing/2014/main" id="{319E63C7-6D69-2968-059F-5BD5E49D9452}"/>
              </a:ext>
            </a:extLst>
          </p:cNvPr>
          <p:cNvGraphicFramePr/>
          <p:nvPr>
            <p:extLst>
              <p:ext uri="{D42A27DB-BD31-4B8C-83A1-F6EECF244321}">
                <p14:modId xmlns:p14="http://schemas.microsoft.com/office/powerpoint/2010/main" val="17555418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E20D9558-CC34-F135-4565-07294052AC19}"/>
              </a:ext>
            </a:extLst>
          </p:cNvPr>
          <p:cNvSpPr>
            <a:spLocks noGrp="1"/>
          </p:cNvSpPr>
          <p:nvPr>
            <p:ph type="title"/>
          </p:nvPr>
        </p:nvSpPr>
        <p:spPr>
          <a:xfrm>
            <a:off x="1371600" y="349250"/>
            <a:ext cx="10044113" cy="877888"/>
          </a:xfrm>
        </p:spPr>
        <p:txBody>
          <a:bodyPr vert="horz" lIns="91440" tIns="45720" rIns="91440" bIns="45720" rtlCol="0" anchor="ctr">
            <a:normAutofit/>
          </a:bodyPr>
          <a:lstStyle/>
          <a:p>
            <a:r>
              <a:rPr lang="en-US" b="1" kern="1200" dirty="0">
                <a:solidFill>
                  <a:schemeClr val="bg1"/>
                </a:solidFill>
                <a:latin typeface="+mj-lt"/>
                <a:ea typeface="+mj-ea"/>
                <a:cs typeface="+mj-cs"/>
              </a:rPr>
              <a:t>Countermeasures Cont’d</a:t>
            </a:r>
          </a:p>
        </p:txBody>
      </p:sp>
    </p:spTree>
    <p:extLst>
      <p:ext uri="{BB962C8B-B14F-4D97-AF65-F5344CB8AC3E}">
        <p14:creationId xmlns:p14="http://schemas.microsoft.com/office/powerpoint/2010/main" val="3978416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697</TotalTime>
  <Words>1349</Words>
  <Application>Microsoft Office PowerPoint</Application>
  <PresentationFormat>Widescreen</PresentationFormat>
  <Paragraphs>52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CRACKING WINDOWS PASSWORD</vt:lpstr>
      <vt:lpstr>Disclaimer</vt:lpstr>
      <vt:lpstr>Introduction</vt:lpstr>
      <vt:lpstr>Password Cracking Techniques</vt:lpstr>
      <vt:lpstr>Mimikatz</vt:lpstr>
      <vt:lpstr>Getting Password Hash using Mimikatz</vt:lpstr>
      <vt:lpstr>Getting Password Hash using Mimikatz Cont’d</vt:lpstr>
      <vt:lpstr>Getting Password Hash using Mimikatz Cont’d</vt:lpstr>
      <vt:lpstr>Getting Password Hash using Mimikatz Cont’d</vt:lpstr>
      <vt:lpstr>Getting Password Hash using Mimikatz Cont’d</vt:lpstr>
      <vt:lpstr>Getting Password Hash using Mimikatz Cont’d</vt:lpstr>
      <vt:lpstr>Hashcat</vt:lpstr>
      <vt:lpstr>Recovering Plaintext from NTLM Hash With Hashcat</vt:lpstr>
      <vt:lpstr>Recovering Plaintext from NTLM Hash With Hashcat Cont’d</vt:lpstr>
      <vt:lpstr>Recovering Plaintext from NTLM Hash With Hashcat Cont’d</vt:lpstr>
      <vt:lpstr>Recovering Plaintext from NTLM Hash With Hashcat Cont’d</vt:lpstr>
      <vt:lpstr>Countermeasures</vt:lpstr>
      <vt:lpstr>Countermeasures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Olalekan Omotayo</dc:creator>
  <cp:lastModifiedBy>Olalekan Omotayo</cp:lastModifiedBy>
  <cp:revision>51</cp:revision>
  <dcterms:created xsi:type="dcterms:W3CDTF">2026-06-25T11:56:11Z</dcterms:created>
  <dcterms:modified xsi:type="dcterms:W3CDTF">2026-06-28T14:25:05Z</dcterms:modified>
</cp:coreProperties>
</file>